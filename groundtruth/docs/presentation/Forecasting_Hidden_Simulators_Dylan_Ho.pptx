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cef59ce-6a2a-cc67-b211-968cdce1138e}">
          <p14:sldIdLst>
            <p14:sldId id="256"/>
            <p14:sldId id="257"/>
          </p14:sldIdLst>
        </p14:section>
        <p14:section name="Process" id="{e5a58f23-d0e0-d825-f055-a080d7c839a1}">
          <p14:sldIdLst>
            <p14:sldId id="258"/>
            <p14:sldId id="259"/>
            <p14:sldId id="260"/>
            <p14:sldId id="261"/>
          </p14:sldIdLst>
        </p14:section>
        <p14:section name="Strategy" id="{3273196e-1321-8e7b-a228-13122c80b7ec}">
          <p14:sldIdLst>
            <p14:sldId id="262"/>
            <p14:sldId id="263"/>
            <p14:sldId id="264"/>
            <p14:sldId id="265"/>
            <p14:sldId id="266"/>
          </p14:sldIdLst>
        </p14:section>
        <p14:section name="Close" id="{ce1c4f7f-e6f7-f295-007b-b3c64c0406e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A425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3A4250"/>
                </a:solidFill>
                <a:latin typeface="+mn-lt"/>
              </a:rPr>
              <a:t>Data steps spent by Sunday (of 2,000)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Weak systems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social</c:v>
                  </c:pt>
                  <c:pt idx="1">
                    <c:v>hospital</c:v>
                  </c:pt>
                  <c:pt idx="2">
                    <c:v>market</c:v>
                  </c:pt>
                  <c:pt idx="3">
                    <c:v>epidemic</c:v>
                  </c:pt>
                  <c:pt idx="4">
                    <c:v>wildlife</c:v>
                  </c:pt>
                  <c:pt idx="5">
                    <c:v>traffic</c:v>
                  </c:pt>
                  <c:pt idx="6">
                    <c:v>supply chain</c:v>
                  </c:pt>
                  <c:pt idx="7">
                    <c:v>power grid</c:v>
                  </c:pt>
                  <c:pt idx="8">
                    <c:v>ad auction</c:v>
                  </c:pt>
                  <c:pt idx="9">
                    <c:v>reservoir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1811</c:v>
                </c:pt>
                <c:pt idx="1">
                  <c:v>1770</c:v>
                </c:pt>
                <c:pt idx="2">
                  <c:v>1540</c:v>
                </c:pt>
                <c:pt idx="3">
                  <c:v>1411</c:v>
                </c:pt>
                <c:pt idx="4">
                  <c:v>1111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Strong systems</c:v>
                </c:pt>
              </c:strCache>
            </c:strRef>
          </c:tx>
          <c:spPr>
            <a:solidFill>
              <a:srgbClr val="A3ABB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social</c:v>
                  </c:pt>
                  <c:pt idx="1">
                    <c:v>hospital</c:v>
                  </c:pt>
                  <c:pt idx="2">
                    <c:v>market</c:v>
                  </c:pt>
                  <c:pt idx="3">
                    <c:v>epidemic</c:v>
                  </c:pt>
                  <c:pt idx="4">
                    <c:v>wildlife</c:v>
                  </c:pt>
                  <c:pt idx="5">
                    <c:v>traffic</c:v>
                  </c:pt>
                  <c:pt idx="6">
                    <c:v>supply chain</c:v>
                  </c:pt>
                  <c:pt idx="7">
                    <c:v>power grid</c:v>
                  </c:pt>
                  <c:pt idx="8">
                    <c:v>ad auction</c:v>
                  </c:pt>
                  <c:pt idx="9">
                    <c:v>reservoir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1240</c:v>
                </c:pt>
                <c:pt idx="6">
                  <c:v>970</c:v>
                </c:pt>
                <c:pt idx="7">
                  <c:v>900</c:v>
                </c:pt>
                <c:pt idx="8">
                  <c:v>900</c:v>
                </c:pt>
                <c:pt idx="9">
                  <c:v>520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42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425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 epidemic cases</c:v>
                </c:pt>
              </c:strCache>
            </c:strRef>
          </c:tx>
          <c:spPr>
            <a:solidFill>
              <a:srgbClr val="2D6A4F"/>
            </a:solidFill>
            <a:ln w="25400" cap="flat">
              <a:solidFill>
                <a:srgbClr val="2D6A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D6A4F"/>
              </a:solidFill>
              <a:ln w="9525" cap="flat">
                <a:solidFill>
                  <a:srgbClr val="2D6A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Sheet1!$A$2:$A$121</c:f>
              <c:multiLvlStrCache>
                <c:ptCount val="120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40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60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80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100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</c:lvl>
              </c:multiLvlStrCache>
            </c:multiLvlStrRef>
          </c:cat>
          <c:val>
            <c:numRef>
              <c:f>Sheet1!$B$2:$B$121</c:f>
              <c:numCache>
                <c:formatCode>General</c:formatCode>
                <c:ptCount val="120"/>
                <c:pt idx="0">
                  <c:v>188</c:v>
                </c:pt>
                <c:pt idx="1">
                  <c:v>187.8</c:v>
                </c:pt>
                <c:pt idx="2">
                  <c:v>218.4</c:v>
                </c:pt>
                <c:pt idx="3">
                  <c:v>255.3</c:v>
                </c:pt>
                <c:pt idx="4">
                  <c:v>289.4</c:v>
                </c:pt>
                <c:pt idx="5">
                  <c:v>316.5</c:v>
                </c:pt>
                <c:pt idx="6">
                  <c:v>341.3</c:v>
                </c:pt>
                <c:pt idx="7">
                  <c:v>362</c:v>
                </c:pt>
                <c:pt idx="8">
                  <c:v>383.5</c:v>
                </c:pt>
                <c:pt idx="9">
                  <c:v>401.5</c:v>
                </c:pt>
                <c:pt idx="10">
                  <c:v>421.3</c:v>
                </c:pt>
                <c:pt idx="11">
                  <c:v>442.8</c:v>
                </c:pt>
                <c:pt idx="12">
                  <c:v>458.4</c:v>
                </c:pt>
                <c:pt idx="13">
                  <c:v>475.8</c:v>
                </c:pt>
                <c:pt idx="14">
                  <c:v>488.6</c:v>
                </c:pt>
                <c:pt idx="15">
                  <c:v>498.9</c:v>
                </c:pt>
                <c:pt idx="16">
                  <c:v>510.2</c:v>
                </c:pt>
                <c:pt idx="17">
                  <c:v>514.6</c:v>
                </c:pt>
                <c:pt idx="18">
                  <c:v>518</c:v>
                </c:pt>
                <c:pt idx="19">
                  <c:v>515.1</c:v>
                </c:pt>
                <c:pt idx="20">
                  <c:v>512.1</c:v>
                </c:pt>
                <c:pt idx="21">
                  <c:v>503.6</c:v>
                </c:pt>
                <c:pt idx="22">
                  <c:v>494.9</c:v>
                </c:pt>
                <c:pt idx="23">
                  <c:v>482</c:v>
                </c:pt>
                <c:pt idx="24">
                  <c:v>465.5</c:v>
                </c:pt>
                <c:pt idx="25">
                  <c:v>450.2</c:v>
                </c:pt>
                <c:pt idx="26">
                  <c:v>433.5</c:v>
                </c:pt>
                <c:pt idx="27">
                  <c:v>414.1</c:v>
                </c:pt>
                <c:pt idx="28">
                  <c:v>394.9</c:v>
                </c:pt>
                <c:pt idx="29">
                  <c:v>375.3</c:v>
                </c:pt>
                <c:pt idx="30">
                  <c:v>355.2</c:v>
                </c:pt>
                <c:pt idx="31">
                  <c:v>336.1</c:v>
                </c:pt>
                <c:pt idx="32">
                  <c:v>317.2</c:v>
                </c:pt>
                <c:pt idx="33">
                  <c:v>299.7</c:v>
                </c:pt>
                <c:pt idx="34">
                  <c:v>280.7</c:v>
                </c:pt>
                <c:pt idx="35">
                  <c:v>263.3</c:v>
                </c:pt>
                <c:pt idx="36">
                  <c:v>248.5</c:v>
                </c:pt>
                <c:pt idx="37">
                  <c:v>233.3</c:v>
                </c:pt>
                <c:pt idx="38">
                  <c:v>219.6</c:v>
                </c:pt>
                <c:pt idx="39">
                  <c:v>205.6</c:v>
                </c:pt>
                <c:pt idx="40">
                  <c:v>193.3</c:v>
                </c:pt>
                <c:pt idx="41">
                  <c:v>181.6</c:v>
                </c:pt>
                <c:pt idx="42">
                  <c:v>170.9</c:v>
                </c:pt>
                <c:pt idx="43">
                  <c:v>160.7</c:v>
                </c:pt>
                <c:pt idx="44">
                  <c:v>151.6</c:v>
                </c:pt>
                <c:pt idx="45">
                  <c:v>143.2</c:v>
                </c:pt>
                <c:pt idx="46">
                  <c:v>135</c:v>
                </c:pt>
                <c:pt idx="47">
                  <c:v>127.6</c:v>
                </c:pt>
                <c:pt idx="48">
                  <c:v>120.9</c:v>
                </c:pt>
                <c:pt idx="49">
                  <c:v>114.2</c:v>
                </c:pt>
                <c:pt idx="50">
                  <c:v>108.5</c:v>
                </c:pt>
                <c:pt idx="51">
                  <c:v>102.8</c:v>
                </c:pt>
                <c:pt idx="52">
                  <c:v>98.1</c:v>
                </c:pt>
                <c:pt idx="53">
                  <c:v>93.6</c:v>
                </c:pt>
                <c:pt idx="54">
                  <c:v>89.2</c:v>
                </c:pt>
                <c:pt idx="55">
                  <c:v>85.2</c:v>
                </c:pt>
                <c:pt idx="56">
                  <c:v>81.2</c:v>
                </c:pt>
                <c:pt idx="57">
                  <c:v>78.2</c:v>
                </c:pt>
                <c:pt idx="58">
                  <c:v>74.9</c:v>
                </c:pt>
                <c:pt idx="59">
                  <c:v>72.2</c:v>
                </c:pt>
                <c:pt idx="60">
                  <c:v>69.2</c:v>
                </c:pt>
                <c:pt idx="61">
                  <c:v>67.1</c:v>
                </c:pt>
                <c:pt idx="62">
                  <c:v>64.6</c:v>
                </c:pt>
                <c:pt idx="63">
                  <c:v>62.5</c:v>
                </c:pt>
                <c:pt idx="64">
                  <c:v>60.3</c:v>
                </c:pt>
                <c:pt idx="65">
                  <c:v>58.7</c:v>
                </c:pt>
                <c:pt idx="66">
                  <c:v>56.9</c:v>
                </c:pt>
                <c:pt idx="67">
                  <c:v>55.4</c:v>
                </c:pt>
                <c:pt idx="68">
                  <c:v>54</c:v>
                </c:pt>
                <c:pt idx="69">
                  <c:v>52.8</c:v>
                </c:pt>
                <c:pt idx="70">
                  <c:v>51.4</c:v>
                </c:pt>
                <c:pt idx="71">
                  <c:v>50.5</c:v>
                </c:pt>
                <c:pt idx="72">
                  <c:v>49.5</c:v>
                </c:pt>
                <c:pt idx="73">
                  <c:v>48.8</c:v>
                </c:pt>
                <c:pt idx="74">
                  <c:v>47.7</c:v>
                </c:pt>
                <c:pt idx="75">
                  <c:v>47</c:v>
                </c:pt>
                <c:pt idx="76">
                  <c:v>46.3</c:v>
                </c:pt>
                <c:pt idx="77">
                  <c:v>45.9</c:v>
                </c:pt>
                <c:pt idx="78">
                  <c:v>45.5</c:v>
                </c:pt>
                <c:pt idx="79">
                  <c:v>45</c:v>
                </c:pt>
                <c:pt idx="80">
                  <c:v>44.7</c:v>
                </c:pt>
                <c:pt idx="81">
                  <c:v>44.4</c:v>
                </c:pt>
                <c:pt idx="82">
                  <c:v>44.1</c:v>
                </c:pt>
                <c:pt idx="83">
                  <c:v>43.9</c:v>
                </c:pt>
                <c:pt idx="84">
                  <c:v>44</c:v>
                </c:pt>
                <c:pt idx="85">
                  <c:v>43.9</c:v>
                </c:pt>
                <c:pt idx="86">
                  <c:v>43.7</c:v>
                </c:pt>
                <c:pt idx="87">
                  <c:v>44.1</c:v>
                </c:pt>
                <c:pt idx="88">
                  <c:v>44.1</c:v>
                </c:pt>
                <c:pt idx="89">
                  <c:v>44.1</c:v>
                </c:pt>
                <c:pt idx="90">
                  <c:v>44.4</c:v>
                </c:pt>
                <c:pt idx="91">
                  <c:v>44.6</c:v>
                </c:pt>
                <c:pt idx="92">
                  <c:v>44.9</c:v>
                </c:pt>
                <c:pt idx="93">
                  <c:v>45.2</c:v>
                </c:pt>
                <c:pt idx="94">
                  <c:v>45.6</c:v>
                </c:pt>
                <c:pt idx="95">
                  <c:v>45.9</c:v>
                </c:pt>
                <c:pt idx="96">
                  <c:v>46.5</c:v>
                </c:pt>
                <c:pt idx="97">
                  <c:v>46.9</c:v>
                </c:pt>
                <c:pt idx="98">
                  <c:v>47.4</c:v>
                </c:pt>
                <c:pt idx="99">
                  <c:v>48.3</c:v>
                </c:pt>
                <c:pt idx="100">
                  <c:v>48.6</c:v>
                </c:pt>
                <c:pt idx="101">
                  <c:v>49.4</c:v>
                </c:pt>
                <c:pt idx="102">
                  <c:v>50</c:v>
                </c:pt>
                <c:pt idx="103">
                  <c:v>50.6</c:v>
                </c:pt>
                <c:pt idx="104">
                  <c:v>51.5</c:v>
                </c:pt>
                <c:pt idx="105">
                  <c:v>52.2</c:v>
                </c:pt>
                <c:pt idx="106">
                  <c:v>53.1</c:v>
                </c:pt>
                <c:pt idx="107">
                  <c:v>54</c:v>
                </c:pt>
                <c:pt idx="108">
                  <c:v>54.9</c:v>
                </c:pt>
                <c:pt idx="109">
                  <c:v>55.9</c:v>
                </c:pt>
                <c:pt idx="110">
                  <c:v>56.6</c:v>
                </c:pt>
                <c:pt idx="111">
                  <c:v>57.9</c:v>
                </c:pt>
                <c:pt idx="112">
                  <c:v>59.1</c:v>
                </c:pt>
                <c:pt idx="113">
                  <c:v>60.2</c:v>
                </c:pt>
                <c:pt idx="114">
                  <c:v>60.9</c:v>
                </c:pt>
                <c:pt idx="115">
                  <c:v>62</c:v>
                </c:pt>
                <c:pt idx="116">
                  <c:v>63.8</c:v>
                </c:pt>
                <c:pt idx="117">
                  <c:v>64.7</c:v>
                </c:pt>
                <c:pt idx="118">
                  <c:v>65.7</c:v>
                </c:pt>
                <c:pt idx="119">
                  <c:v>67.3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Simple model</c:v>
                </c:pt>
              </c:strCache>
            </c:strRef>
          </c:tx>
          <c:spPr>
            <a:solidFill>
              <a:srgbClr val="A3ABB3"/>
            </a:solidFill>
            <a:ln w="25400" cap="flat">
              <a:solidFill>
                <a:srgbClr val="A3ABB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A3ABB3"/>
              </a:solidFill>
              <a:ln w="9525" cap="flat">
                <a:solidFill>
                  <a:srgbClr val="A3ABB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Sheet1!$A$2:$A$121</c:f>
              <c:multiLvlStrCache>
                <c:ptCount val="120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40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60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80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100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</c:lvl>
              </c:multiLvlStrCache>
            </c:multiLvlStrRef>
          </c:cat>
          <c:val>
            <c:numRef>
              <c:f>Sheet1!$C$2:$C$121</c:f>
              <c:numCache>
                <c:formatCode>General</c:formatCode>
                <c:ptCount val="120"/>
                <c:pt idx="0">
                  <c:v>188</c:v>
                </c:pt>
                <c:pt idx="1">
                  <c:v>186.7</c:v>
                </c:pt>
                <c:pt idx="2">
                  <c:v>185.3</c:v>
                </c:pt>
                <c:pt idx="3">
                  <c:v>184</c:v>
                </c:pt>
                <c:pt idx="4">
                  <c:v>182.7</c:v>
                </c:pt>
                <c:pt idx="5">
                  <c:v>181.4</c:v>
                </c:pt>
                <c:pt idx="6">
                  <c:v>180.1</c:v>
                </c:pt>
                <c:pt idx="7">
                  <c:v>178.8</c:v>
                </c:pt>
                <c:pt idx="8">
                  <c:v>177.6</c:v>
                </c:pt>
                <c:pt idx="9">
                  <c:v>176.3</c:v>
                </c:pt>
                <c:pt idx="10">
                  <c:v>175.1</c:v>
                </c:pt>
                <c:pt idx="11">
                  <c:v>173.8</c:v>
                </c:pt>
                <c:pt idx="12">
                  <c:v>172.6</c:v>
                </c:pt>
                <c:pt idx="13">
                  <c:v>171.4</c:v>
                </c:pt>
                <c:pt idx="14">
                  <c:v>170.1</c:v>
                </c:pt>
                <c:pt idx="15">
                  <c:v>168.9</c:v>
                </c:pt>
                <c:pt idx="16">
                  <c:v>167.7</c:v>
                </c:pt>
                <c:pt idx="17">
                  <c:v>166.5</c:v>
                </c:pt>
                <c:pt idx="18">
                  <c:v>165.4</c:v>
                </c:pt>
                <c:pt idx="19">
                  <c:v>164.2</c:v>
                </c:pt>
                <c:pt idx="20">
                  <c:v>163</c:v>
                </c:pt>
                <c:pt idx="21">
                  <c:v>161.9</c:v>
                </c:pt>
                <c:pt idx="22">
                  <c:v>160.7</c:v>
                </c:pt>
                <c:pt idx="23">
                  <c:v>159.6</c:v>
                </c:pt>
                <c:pt idx="24">
                  <c:v>158.4</c:v>
                </c:pt>
                <c:pt idx="25">
                  <c:v>157.3</c:v>
                </c:pt>
                <c:pt idx="26">
                  <c:v>156.2</c:v>
                </c:pt>
                <c:pt idx="27">
                  <c:v>155.1</c:v>
                </c:pt>
                <c:pt idx="28">
                  <c:v>154</c:v>
                </c:pt>
                <c:pt idx="29">
                  <c:v>152.9</c:v>
                </c:pt>
                <c:pt idx="30">
                  <c:v>151.8</c:v>
                </c:pt>
                <c:pt idx="31">
                  <c:v>150.7</c:v>
                </c:pt>
                <c:pt idx="32">
                  <c:v>149.6</c:v>
                </c:pt>
                <c:pt idx="33">
                  <c:v>148.6</c:v>
                </c:pt>
                <c:pt idx="34">
                  <c:v>147.5</c:v>
                </c:pt>
                <c:pt idx="35">
                  <c:v>146.5</c:v>
                </c:pt>
                <c:pt idx="36">
                  <c:v>145.4</c:v>
                </c:pt>
                <c:pt idx="37">
                  <c:v>144.4</c:v>
                </c:pt>
                <c:pt idx="38">
                  <c:v>143.4</c:v>
                </c:pt>
                <c:pt idx="39">
                  <c:v>142.4</c:v>
                </c:pt>
                <c:pt idx="40">
                  <c:v>141.3</c:v>
                </c:pt>
                <c:pt idx="41">
                  <c:v>140.3</c:v>
                </c:pt>
                <c:pt idx="42">
                  <c:v>139.3</c:v>
                </c:pt>
                <c:pt idx="43">
                  <c:v>138.4</c:v>
                </c:pt>
                <c:pt idx="44">
                  <c:v>137.4</c:v>
                </c:pt>
                <c:pt idx="45">
                  <c:v>136.4</c:v>
                </c:pt>
                <c:pt idx="46">
                  <c:v>135.4</c:v>
                </c:pt>
                <c:pt idx="47">
                  <c:v>134.5</c:v>
                </c:pt>
                <c:pt idx="48">
                  <c:v>133.5</c:v>
                </c:pt>
                <c:pt idx="49">
                  <c:v>132.6</c:v>
                </c:pt>
                <c:pt idx="50">
                  <c:v>131.6</c:v>
                </c:pt>
                <c:pt idx="51">
                  <c:v>130.7</c:v>
                </c:pt>
                <c:pt idx="52">
                  <c:v>129.8</c:v>
                </c:pt>
                <c:pt idx="53">
                  <c:v>128.8</c:v>
                </c:pt>
                <c:pt idx="54">
                  <c:v>127.9</c:v>
                </c:pt>
                <c:pt idx="55">
                  <c:v>127</c:v>
                </c:pt>
                <c:pt idx="56">
                  <c:v>126.1</c:v>
                </c:pt>
                <c:pt idx="57">
                  <c:v>125.2</c:v>
                </c:pt>
                <c:pt idx="58">
                  <c:v>124.3</c:v>
                </c:pt>
                <c:pt idx="59">
                  <c:v>123.4</c:v>
                </c:pt>
                <c:pt idx="60">
                  <c:v>122.6</c:v>
                </c:pt>
                <c:pt idx="61">
                  <c:v>121.7</c:v>
                </c:pt>
                <c:pt idx="62">
                  <c:v>120.8</c:v>
                </c:pt>
                <c:pt idx="63">
                  <c:v>120</c:v>
                </c:pt>
                <c:pt idx="64">
                  <c:v>119.1</c:v>
                </c:pt>
                <c:pt idx="65">
                  <c:v>118.3</c:v>
                </c:pt>
                <c:pt idx="66">
                  <c:v>117.4</c:v>
                </c:pt>
                <c:pt idx="67">
                  <c:v>116.6</c:v>
                </c:pt>
                <c:pt idx="68">
                  <c:v>115.8</c:v>
                </c:pt>
                <c:pt idx="69">
                  <c:v>114.9</c:v>
                </c:pt>
                <c:pt idx="70">
                  <c:v>114.1</c:v>
                </c:pt>
                <c:pt idx="71">
                  <c:v>113.3</c:v>
                </c:pt>
                <c:pt idx="72">
                  <c:v>112.5</c:v>
                </c:pt>
                <c:pt idx="73">
                  <c:v>111.7</c:v>
                </c:pt>
                <c:pt idx="74">
                  <c:v>110.9</c:v>
                </c:pt>
                <c:pt idx="75">
                  <c:v>110.1</c:v>
                </c:pt>
                <c:pt idx="76">
                  <c:v>109.3</c:v>
                </c:pt>
                <c:pt idx="77">
                  <c:v>108.6</c:v>
                </c:pt>
                <c:pt idx="78">
                  <c:v>107.8</c:v>
                </c:pt>
                <c:pt idx="79">
                  <c:v>107</c:v>
                </c:pt>
                <c:pt idx="80">
                  <c:v>106.3</c:v>
                </c:pt>
                <c:pt idx="81">
                  <c:v>105.5</c:v>
                </c:pt>
                <c:pt idx="82">
                  <c:v>104.8</c:v>
                </c:pt>
                <c:pt idx="83">
                  <c:v>104</c:v>
                </c:pt>
                <c:pt idx="84">
                  <c:v>103.3</c:v>
                </c:pt>
                <c:pt idx="85">
                  <c:v>102.5</c:v>
                </c:pt>
                <c:pt idx="86">
                  <c:v>101.8</c:v>
                </c:pt>
                <c:pt idx="87">
                  <c:v>101.1</c:v>
                </c:pt>
                <c:pt idx="88">
                  <c:v>100.4</c:v>
                </c:pt>
                <c:pt idx="89">
                  <c:v>99.7</c:v>
                </c:pt>
                <c:pt idx="90">
                  <c:v>99</c:v>
                </c:pt>
                <c:pt idx="91">
                  <c:v>98.3</c:v>
                </c:pt>
                <c:pt idx="92">
                  <c:v>97.6</c:v>
                </c:pt>
                <c:pt idx="93">
                  <c:v>96.9</c:v>
                </c:pt>
                <c:pt idx="94">
                  <c:v>96.2</c:v>
                </c:pt>
                <c:pt idx="95">
                  <c:v>95.5</c:v>
                </c:pt>
                <c:pt idx="96">
                  <c:v>94.8</c:v>
                </c:pt>
                <c:pt idx="97">
                  <c:v>94.1</c:v>
                </c:pt>
                <c:pt idx="98">
                  <c:v>93.5</c:v>
                </c:pt>
                <c:pt idx="99">
                  <c:v>92.8</c:v>
                </c:pt>
                <c:pt idx="100">
                  <c:v>92.1</c:v>
                </c:pt>
                <c:pt idx="101">
                  <c:v>91.5</c:v>
                </c:pt>
                <c:pt idx="102">
                  <c:v>90.8</c:v>
                </c:pt>
                <c:pt idx="103">
                  <c:v>90.2</c:v>
                </c:pt>
                <c:pt idx="104">
                  <c:v>89.6</c:v>
                </c:pt>
                <c:pt idx="105">
                  <c:v>88.9</c:v>
                </c:pt>
                <c:pt idx="106">
                  <c:v>88.3</c:v>
                </c:pt>
                <c:pt idx="107">
                  <c:v>87.7</c:v>
                </c:pt>
                <c:pt idx="108">
                  <c:v>87</c:v>
                </c:pt>
                <c:pt idx="109">
                  <c:v>86.4</c:v>
                </c:pt>
                <c:pt idx="110">
                  <c:v>85.8</c:v>
                </c:pt>
                <c:pt idx="111">
                  <c:v>85.2</c:v>
                </c:pt>
                <c:pt idx="112">
                  <c:v>84.6</c:v>
                </c:pt>
                <c:pt idx="113">
                  <c:v>84</c:v>
                </c:pt>
                <c:pt idx="114">
                  <c:v>83.4</c:v>
                </c:pt>
                <c:pt idx="115">
                  <c:v>82.8</c:v>
                </c:pt>
                <c:pt idx="116">
                  <c:v>82.2</c:v>
                </c:pt>
                <c:pt idx="117">
                  <c:v>81.6</c:v>
                </c:pt>
                <c:pt idx="118">
                  <c:v>81</c:v>
                </c:pt>
                <c:pt idx="119">
                  <c:v>80.5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4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480"/>
                    </a:solidFill>
                    <a:latin typeface="+mn-lt"/>
                  </a:rPr>
                  <a:t>time step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4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ADD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4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A425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 speed, route A</c:v>
                </c:pt>
              </c:strCache>
            </c:strRef>
          </c:tx>
          <c:spPr>
            <a:solidFill>
              <a:srgbClr val="2D6A4F"/>
            </a:solidFill>
            <a:ln w="25400" cap="flat">
              <a:solidFill>
                <a:srgbClr val="2D6A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D6A4F"/>
              </a:solidFill>
              <a:ln w="9525" cap="flat">
                <a:solidFill>
                  <a:srgbClr val="2D6A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Sheet1!$A$2:$A$101</c:f>
              <c:multiLvlStrCache>
                <c:ptCount val="100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100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200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300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400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</c:lvl>
              </c:multiLvlStrCache>
            </c:multiLvlStr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44.2</c:v>
                </c:pt>
                <c:pt idx="1">
                  <c:v>42.6</c:v>
                </c:pt>
                <c:pt idx="2">
                  <c:v>25.8</c:v>
                </c:pt>
                <c:pt idx="3">
                  <c:v>26</c:v>
                </c:pt>
                <c:pt idx="4">
                  <c:v>22.5</c:v>
                </c:pt>
                <c:pt idx="5">
                  <c:v>19.3</c:v>
                </c:pt>
                <c:pt idx="6">
                  <c:v>17.1</c:v>
                </c:pt>
                <c:pt idx="7">
                  <c:v>15</c:v>
                </c:pt>
                <c:pt idx="8">
                  <c:v>13.2</c:v>
                </c:pt>
                <c:pt idx="9">
                  <c:v>12.5</c:v>
                </c:pt>
                <c:pt idx="10">
                  <c:v>11.2</c:v>
                </c:pt>
                <c:pt idx="11">
                  <c:v>10.7</c:v>
                </c:pt>
                <c:pt idx="12">
                  <c:v>10.1</c:v>
                </c:pt>
                <c:pt idx="13">
                  <c:v>9.6</c:v>
                </c:pt>
                <c:pt idx="14">
                  <c:v>9.1</c:v>
                </c:pt>
                <c:pt idx="15">
                  <c:v>8.8</c:v>
                </c:pt>
                <c:pt idx="16">
                  <c:v>8.7</c:v>
                </c:pt>
                <c:pt idx="17">
                  <c:v>8.2</c:v>
                </c:pt>
                <c:pt idx="18">
                  <c:v>8</c:v>
                </c:pt>
                <c:pt idx="19">
                  <c:v>7.8</c:v>
                </c:pt>
                <c:pt idx="20">
                  <c:v>7.7</c:v>
                </c:pt>
                <c:pt idx="21">
                  <c:v>7.7</c:v>
                </c:pt>
                <c:pt idx="22">
                  <c:v>7.7</c:v>
                </c:pt>
                <c:pt idx="23">
                  <c:v>7.6</c:v>
                </c:pt>
                <c:pt idx="24">
                  <c:v>7.6</c:v>
                </c:pt>
                <c:pt idx="25">
                  <c:v>7.5</c:v>
                </c:pt>
                <c:pt idx="26">
                  <c:v>7.5</c:v>
                </c:pt>
                <c:pt idx="27">
                  <c:v>7.5</c:v>
                </c:pt>
                <c:pt idx="28">
                  <c:v>7.4</c:v>
                </c:pt>
                <c:pt idx="29">
                  <c:v>7.4</c:v>
                </c:pt>
                <c:pt idx="30">
                  <c:v>7.4</c:v>
                </c:pt>
                <c:pt idx="31">
                  <c:v>7.4</c:v>
                </c:pt>
                <c:pt idx="32">
                  <c:v>7.4</c:v>
                </c:pt>
                <c:pt idx="33">
                  <c:v>7.4</c:v>
                </c:pt>
                <c:pt idx="34">
                  <c:v>7.4</c:v>
                </c:pt>
                <c:pt idx="35">
                  <c:v>7.3</c:v>
                </c:pt>
                <c:pt idx="36">
                  <c:v>7.4</c:v>
                </c:pt>
                <c:pt idx="37">
                  <c:v>7.4</c:v>
                </c:pt>
                <c:pt idx="38">
                  <c:v>7.4</c:v>
                </c:pt>
                <c:pt idx="39">
                  <c:v>7.3</c:v>
                </c:pt>
                <c:pt idx="40">
                  <c:v>7.4</c:v>
                </c:pt>
                <c:pt idx="41">
                  <c:v>7.4</c:v>
                </c:pt>
                <c:pt idx="42">
                  <c:v>7.4</c:v>
                </c:pt>
                <c:pt idx="43">
                  <c:v>7.4</c:v>
                </c:pt>
                <c:pt idx="44">
                  <c:v>7.3</c:v>
                </c:pt>
                <c:pt idx="45">
                  <c:v>7.4</c:v>
                </c:pt>
                <c:pt idx="46">
                  <c:v>7.4</c:v>
                </c:pt>
                <c:pt idx="47">
                  <c:v>7.4</c:v>
                </c:pt>
                <c:pt idx="48">
                  <c:v>7.4</c:v>
                </c:pt>
                <c:pt idx="49">
                  <c:v>7.4</c:v>
                </c:pt>
                <c:pt idx="50">
                  <c:v>7.3</c:v>
                </c:pt>
                <c:pt idx="51">
                  <c:v>7.4</c:v>
                </c:pt>
                <c:pt idx="52">
                  <c:v>7.4</c:v>
                </c:pt>
                <c:pt idx="53">
                  <c:v>7.4</c:v>
                </c:pt>
                <c:pt idx="54">
                  <c:v>7.4</c:v>
                </c:pt>
                <c:pt idx="55">
                  <c:v>7.4</c:v>
                </c:pt>
                <c:pt idx="56">
                  <c:v>7.4</c:v>
                </c:pt>
                <c:pt idx="57">
                  <c:v>7.3</c:v>
                </c:pt>
                <c:pt idx="58">
                  <c:v>7.4</c:v>
                </c:pt>
                <c:pt idx="59">
                  <c:v>7.3</c:v>
                </c:pt>
                <c:pt idx="60">
                  <c:v>7.3</c:v>
                </c:pt>
                <c:pt idx="61">
                  <c:v>7.4</c:v>
                </c:pt>
                <c:pt idx="62">
                  <c:v>7.4</c:v>
                </c:pt>
                <c:pt idx="63">
                  <c:v>7.4</c:v>
                </c:pt>
                <c:pt idx="64">
                  <c:v>7.3</c:v>
                </c:pt>
                <c:pt idx="65">
                  <c:v>7.3</c:v>
                </c:pt>
                <c:pt idx="66">
                  <c:v>7.4</c:v>
                </c:pt>
                <c:pt idx="67">
                  <c:v>7.3</c:v>
                </c:pt>
                <c:pt idx="68">
                  <c:v>7.4</c:v>
                </c:pt>
                <c:pt idx="69">
                  <c:v>7.4</c:v>
                </c:pt>
                <c:pt idx="70">
                  <c:v>7.4</c:v>
                </c:pt>
                <c:pt idx="71">
                  <c:v>7.3</c:v>
                </c:pt>
                <c:pt idx="72">
                  <c:v>7.4</c:v>
                </c:pt>
                <c:pt idx="73">
                  <c:v>7.4</c:v>
                </c:pt>
                <c:pt idx="74">
                  <c:v>7.4</c:v>
                </c:pt>
                <c:pt idx="75">
                  <c:v>7.4</c:v>
                </c:pt>
                <c:pt idx="76">
                  <c:v>7.3</c:v>
                </c:pt>
                <c:pt idx="77">
                  <c:v>7.4</c:v>
                </c:pt>
                <c:pt idx="78">
                  <c:v>7.3</c:v>
                </c:pt>
                <c:pt idx="79">
                  <c:v>7.4</c:v>
                </c:pt>
                <c:pt idx="80">
                  <c:v>7.4</c:v>
                </c:pt>
                <c:pt idx="81">
                  <c:v>7.3</c:v>
                </c:pt>
                <c:pt idx="82">
                  <c:v>7.4</c:v>
                </c:pt>
                <c:pt idx="83">
                  <c:v>7.4</c:v>
                </c:pt>
                <c:pt idx="84">
                  <c:v>7.3</c:v>
                </c:pt>
                <c:pt idx="85">
                  <c:v>7.4</c:v>
                </c:pt>
                <c:pt idx="86">
                  <c:v>7.4</c:v>
                </c:pt>
                <c:pt idx="87">
                  <c:v>7.4</c:v>
                </c:pt>
                <c:pt idx="88">
                  <c:v>7.4</c:v>
                </c:pt>
                <c:pt idx="89">
                  <c:v>7.4</c:v>
                </c:pt>
                <c:pt idx="90">
                  <c:v>7.4</c:v>
                </c:pt>
                <c:pt idx="91">
                  <c:v>7.4</c:v>
                </c:pt>
                <c:pt idx="92">
                  <c:v>7.4</c:v>
                </c:pt>
                <c:pt idx="93">
                  <c:v>7.4</c:v>
                </c:pt>
                <c:pt idx="94">
                  <c:v>7.4</c:v>
                </c:pt>
                <c:pt idx="95">
                  <c:v>7.4</c:v>
                </c:pt>
                <c:pt idx="96">
                  <c:v>7.4</c:v>
                </c:pt>
                <c:pt idx="97">
                  <c:v>7.4</c:v>
                </c:pt>
                <c:pt idx="98">
                  <c:v>7.4</c:v>
                </c:pt>
                <c:pt idx="99">
                  <c:v>7.4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 speed, route B</c:v>
                </c:pt>
              </c:strCache>
            </c:strRef>
          </c:tx>
          <c:spPr>
            <a:solidFill>
              <a:srgbClr val="8C7A5B"/>
            </a:solidFill>
            <a:ln w="25400" cap="flat">
              <a:solidFill>
                <a:srgbClr val="8C7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C7A5B"/>
              </a:solidFill>
              <a:ln w="9525" cap="flat">
                <a:solidFill>
                  <a:srgbClr val="8C7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Sheet1!$A$2:$A$101</c:f>
              <c:multiLvlStrCache>
                <c:ptCount val="100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100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200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300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400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</c:lvl>
              </c:multiLvlStrCache>
            </c:multiLvlStrRef>
          </c:cat>
          <c:val>
            <c:numRef>
              <c:f>Sheet1!$C$2:$C$101</c:f>
              <c:numCache>
                <c:formatCode>General</c:formatCode>
                <c:ptCount val="100"/>
                <c:pt idx="0">
                  <c:v>38.6</c:v>
                </c:pt>
                <c:pt idx="1">
                  <c:v>37.7</c:v>
                </c:pt>
                <c:pt idx="2">
                  <c:v>27.3</c:v>
                </c:pt>
                <c:pt idx="3">
                  <c:v>23.4</c:v>
                </c:pt>
                <c:pt idx="4">
                  <c:v>20.7</c:v>
                </c:pt>
                <c:pt idx="5">
                  <c:v>19.1</c:v>
                </c:pt>
                <c:pt idx="6">
                  <c:v>18.1</c:v>
                </c:pt>
                <c:pt idx="7">
                  <c:v>16.9</c:v>
                </c:pt>
                <c:pt idx="8">
                  <c:v>15.9</c:v>
                </c:pt>
                <c:pt idx="9">
                  <c:v>15.7</c:v>
                </c:pt>
                <c:pt idx="10">
                  <c:v>15.6</c:v>
                </c:pt>
                <c:pt idx="11">
                  <c:v>16.1</c:v>
                </c:pt>
                <c:pt idx="12">
                  <c:v>15.8</c:v>
                </c:pt>
                <c:pt idx="13">
                  <c:v>15.6</c:v>
                </c:pt>
                <c:pt idx="14">
                  <c:v>15.8</c:v>
                </c:pt>
                <c:pt idx="15">
                  <c:v>16.1</c:v>
                </c:pt>
                <c:pt idx="16">
                  <c:v>15.7</c:v>
                </c:pt>
                <c:pt idx="17">
                  <c:v>15.6</c:v>
                </c:pt>
                <c:pt idx="18">
                  <c:v>16</c:v>
                </c:pt>
                <c:pt idx="19">
                  <c:v>15.9</c:v>
                </c:pt>
                <c:pt idx="20">
                  <c:v>15.8</c:v>
                </c:pt>
                <c:pt idx="21">
                  <c:v>15.9</c:v>
                </c:pt>
                <c:pt idx="22">
                  <c:v>15.9</c:v>
                </c:pt>
                <c:pt idx="23">
                  <c:v>15.9</c:v>
                </c:pt>
                <c:pt idx="24">
                  <c:v>16</c:v>
                </c:pt>
                <c:pt idx="25">
                  <c:v>15.8</c:v>
                </c:pt>
                <c:pt idx="26">
                  <c:v>15.9</c:v>
                </c:pt>
                <c:pt idx="27">
                  <c:v>16.1</c:v>
                </c:pt>
                <c:pt idx="28">
                  <c:v>15.8</c:v>
                </c:pt>
                <c:pt idx="29">
                  <c:v>15.9</c:v>
                </c:pt>
                <c:pt idx="30">
                  <c:v>16</c:v>
                </c:pt>
                <c:pt idx="31">
                  <c:v>15.8</c:v>
                </c:pt>
                <c:pt idx="32">
                  <c:v>15.9</c:v>
                </c:pt>
                <c:pt idx="33">
                  <c:v>16</c:v>
                </c:pt>
                <c:pt idx="34">
                  <c:v>15.9</c:v>
                </c:pt>
                <c:pt idx="35">
                  <c:v>15.8</c:v>
                </c:pt>
                <c:pt idx="36">
                  <c:v>16</c:v>
                </c:pt>
                <c:pt idx="37">
                  <c:v>15.8</c:v>
                </c:pt>
                <c:pt idx="38">
                  <c:v>15.9</c:v>
                </c:pt>
                <c:pt idx="39">
                  <c:v>16</c:v>
                </c:pt>
                <c:pt idx="40">
                  <c:v>15.8</c:v>
                </c:pt>
                <c:pt idx="41">
                  <c:v>15.8</c:v>
                </c:pt>
                <c:pt idx="42">
                  <c:v>16</c:v>
                </c:pt>
                <c:pt idx="43">
                  <c:v>15.9</c:v>
                </c:pt>
                <c:pt idx="44">
                  <c:v>15.8</c:v>
                </c:pt>
                <c:pt idx="45">
                  <c:v>16</c:v>
                </c:pt>
                <c:pt idx="46">
                  <c:v>15.8</c:v>
                </c:pt>
                <c:pt idx="47">
                  <c:v>15.8</c:v>
                </c:pt>
                <c:pt idx="48">
                  <c:v>16</c:v>
                </c:pt>
                <c:pt idx="49">
                  <c:v>15.7</c:v>
                </c:pt>
                <c:pt idx="50">
                  <c:v>15.8</c:v>
                </c:pt>
                <c:pt idx="51">
                  <c:v>16</c:v>
                </c:pt>
                <c:pt idx="52">
                  <c:v>15.8</c:v>
                </c:pt>
                <c:pt idx="53">
                  <c:v>15.8</c:v>
                </c:pt>
                <c:pt idx="54">
                  <c:v>16</c:v>
                </c:pt>
                <c:pt idx="55">
                  <c:v>15.8</c:v>
                </c:pt>
                <c:pt idx="56">
                  <c:v>15.9</c:v>
                </c:pt>
                <c:pt idx="57">
                  <c:v>16</c:v>
                </c:pt>
                <c:pt idx="58">
                  <c:v>15.8</c:v>
                </c:pt>
                <c:pt idx="59">
                  <c:v>15.8</c:v>
                </c:pt>
                <c:pt idx="60">
                  <c:v>16</c:v>
                </c:pt>
                <c:pt idx="61">
                  <c:v>15.9</c:v>
                </c:pt>
                <c:pt idx="62">
                  <c:v>15.9</c:v>
                </c:pt>
                <c:pt idx="63">
                  <c:v>16</c:v>
                </c:pt>
                <c:pt idx="64">
                  <c:v>15.8</c:v>
                </c:pt>
                <c:pt idx="65">
                  <c:v>15.8</c:v>
                </c:pt>
                <c:pt idx="66">
                  <c:v>16</c:v>
                </c:pt>
                <c:pt idx="67">
                  <c:v>15.8</c:v>
                </c:pt>
                <c:pt idx="68">
                  <c:v>15.9</c:v>
                </c:pt>
                <c:pt idx="69">
                  <c:v>16</c:v>
                </c:pt>
                <c:pt idx="70">
                  <c:v>15.8</c:v>
                </c:pt>
                <c:pt idx="71">
                  <c:v>15.8</c:v>
                </c:pt>
                <c:pt idx="72">
                  <c:v>15.9</c:v>
                </c:pt>
                <c:pt idx="73">
                  <c:v>15.8</c:v>
                </c:pt>
                <c:pt idx="74">
                  <c:v>15.9</c:v>
                </c:pt>
                <c:pt idx="75">
                  <c:v>16</c:v>
                </c:pt>
                <c:pt idx="76">
                  <c:v>15.8</c:v>
                </c:pt>
                <c:pt idx="77">
                  <c:v>15.8</c:v>
                </c:pt>
                <c:pt idx="78">
                  <c:v>16</c:v>
                </c:pt>
                <c:pt idx="79">
                  <c:v>15.9</c:v>
                </c:pt>
                <c:pt idx="80">
                  <c:v>15.8</c:v>
                </c:pt>
                <c:pt idx="81">
                  <c:v>16</c:v>
                </c:pt>
                <c:pt idx="82">
                  <c:v>15.8</c:v>
                </c:pt>
                <c:pt idx="83">
                  <c:v>15.9</c:v>
                </c:pt>
                <c:pt idx="84">
                  <c:v>16</c:v>
                </c:pt>
                <c:pt idx="85">
                  <c:v>15.9</c:v>
                </c:pt>
                <c:pt idx="86">
                  <c:v>15.9</c:v>
                </c:pt>
                <c:pt idx="87">
                  <c:v>16</c:v>
                </c:pt>
                <c:pt idx="88">
                  <c:v>15.8</c:v>
                </c:pt>
                <c:pt idx="89">
                  <c:v>15.9</c:v>
                </c:pt>
                <c:pt idx="90">
                  <c:v>16</c:v>
                </c:pt>
                <c:pt idx="91">
                  <c:v>15.8</c:v>
                </c:pt>
                <c:pt idx="92">
                  <c:v>15.9</c:v>
                </c:pt>
                <c:pt idx="93">
                  <c:v>16</c:v>
                </c:pt>
                <c:pt idx="94">
                  <c:v>15.8</c:v>
                </c:pt>
                <c:pt idx="95">
                  <c:v>15.8</c:v>
                </c:pt>
                <c:pt idx="96">
                  <c:v>16</c:v>
                </c:pt>
                <c:pt idx="97">
                  <c:v>15.8</c:v>
                </c:pt>
                <c:pt idx="98">
                  <c:v>15.8</c:v>
                </c:pt>
                <c:pt idx="99">
                  <c:v>16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My models (~30)</c:v>
                </c:pt>
              </c:strCache>
            </c:strRef>
          </c:tx>
          <c:spPr>
            <a:solidFill>
              <a:srgbClr val="A3ABB3"/>
            </a:solidFill>
            <a:ln w="25400" cap="flat">
              <a:solidFill>
                <a:srgbClr val="A3ABB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A3ABB3"/>
              </a:solidFill>
              <a:ln w="9525" cap="flat">
                <a:solidFill>
                  <a:srgbClr val="A3ABB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Sheet1!$A$2:$A$101</c:f>
              <c:multiLvlStrCache>
                <c:ptCount val="100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100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200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300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400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</c:lvl>
              </c:multiLvlStrCache>
            </c:multiLvlStrRef>
          </c:cat>
          <c:val>
            <c:numRef>
              <c:f>Sheet1!$D$2:$D$101</c:f>
              <c:numCache>
                <c:formatCode>General</c:formatCode>
                <c:ptCount val="100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  <c:pt idx="6">
                  <c:v>30</c:v>
                </c:pt>
                <c:pt idx="7">
                  <c:v>30</c:v>
                </c:pt>
                <c:pt idx="8">
                  <c:v>30</c:v>
                </c:pt>
                <c:pt idx="9">
                  <c:v>30</c:v>
                </c:pt>
                <c:pt idx="10">
                  <c:v>30</c:v>
                </c:pt>
                <c:pt idx="11">
                  <c:v>30</c:v>
                </c:pt>
                <c:pt idx="12">
                  <c:v>30</c:v>
                </c:pt>
                <c:pt idx="13">
                  <c:v>30</c:v>
                </c:pt>
                <c:pt idx="14">
                  <c:v>30</c:v>
                </c:pt>
                <c:pt idx="15">
                  <c:v>30</c:v>
                </c:pt>
                <c:pt idx="16">
                  <c:v>30</c:v>
                </c:pt>
                <c:pt idx="17">
                  <c:v>30</c:v>
                </c:pt>
                <c:pt idx="18">
                  <c:v>30</c:v>
                </c:pt>
                <c:pt idx="19">
                  <c:v>30</c:v>
                </c:pt>
                <c:pt idx="20">
                  <c:v>30</c:v>
                </c:pt>
                <c:pt idx="21">
                  <c:v>30</c:v>
                </c:pt>
                <c:pt idx="22">
                  <c:v>30</c:v>
                </c:pt>
                <c:pt idx="23">
                  <c:v>30</c:v>
                </c:pt>
                <c:pt idx="24">
                  <c:v>30</c:v>
                </c:pt>
                <c:pt idx="25">
                  <c:v>30</c:v>
                </c:pt>
                <c:pt idx="26">
                  <c:v>30</c:v>
                </c:pt>
                <c:pt idx="27">
                  <c:v>30</c:v>
                </c:pt>
                <c:pt idx="28">
                  <c:v>30</c:v>
                </c:pt>
                <c:pt idx="29">
                  <c:v>30</c:v>
                </c:pt>
                <c:pt idx="30">
                  <c:v>30</c:v>
                </c:pt>
                <c:pt idx="31">
                  <c:v>30</c:v>
                </c:pt>
                <c:pt idx="32">
                  <c:v>30</c:v>
                </c:pt>
                <c:pt idx="33">
                  <c:v>30</c:v>
                </c:pt>
                <c:pt idx="34">
                  <c:v>30</c:v>
                </c:pt>
                <c:pt idx="35">
                  <c:v>30</c:v>
                </c:pt>
                <c:pt idx="36">
                  <c:v>30</c:v>
                </c:pt>
                <c:pt idx="37">
                  <c:v>30</c:v>
                </c:pt>
                <c:pt idx="38">
                  <c:v>30</c:v>
                </c:pt>
                <c:pt idx="39">
                  <c:v>30</c:v>
                </c:pt>
                <c:pt idx="40">
                  <c:v>30</c:v>
                </c:pt>
                <c:pt idx="41">
                  <c:v>30</c:v>
                </c:pt>
                <c:pt idx="42">
                  <c:v>30</c:v>
                </c:pt>
                <c:pt idx="43">
                  <c:v>30</c:v>
                </c:pt>
                <c:pt idx="44">
                  <c:v>30</c:v>
                </c:pt>
                <c:pt idx="45">
                  <c:v>30</c:v>
                </c:pt>
                <c:pt idx="46">
                  <c:v>30</c:v>
                </c:pt>
                <c:pt idx="47">
                  <c:v>30</c:v>
                </c:pt>
                <c:pt idx="48">
                  <c:v>30</c:v>
                </c:pt>
                <c:pt idx="49">
                  <c:v>30</c:v>
                </c:pt>
                <c:pt idx="50">
                  <c:v>30</c:v>
                </c:pt>
                <c:pt idx="51">
                  <c:v>30</c:v>
                </c:pt>
                <c:pt idx="52">
                  <c:v>30</c:v>
                </c:pt>
                <c:pt idx="53">
                  <c:v>30</c:v>
                </c:pt>
                <c:pt idx="54">
                  <c:v>30</c:v>
                </c:pt>
                <c:pt idx="55">
                  <c:v>30</c:v>
                </c:pt>
                <c:pt idx="56">
                  <c:v>30</c:v>
                </c:pt>
                <c:pt idx="57">
                  <c:v>30</c:v>
                </c:pt>
                <c:pt idx="58">
                  <c:v>30</c:v>
                </c:pt>
                <c:pt idx="59">
                  <c:v>30</c:v>
                </c:pt>
                <c:pt idx="60">
                  <c:v>30</c:v>
                </c:pt>
                <c:pt idx="61">
                  <c:v>30</c:v>
                </c:pt>
                <c:pt idx="62">
                  <c:v>30</c:v>
                </c:pt>
                <c:pt idx="63">
                  <c:v>30</c:v>
                </c:pt>
                <c:pt idx="64">
                  <c:v>30</c:v>
                </c:pt>
                <c:pt idx="65">
                  <c:v>30</c:v>
                </c:pt>
                <c:pt idx="66">
                  <c:v>30</c:v>
                </c:pt>
                <c:pt idx="67">
                  <c:v>30</c:v>
                </c:pt>
                <c:pt idx="68">
                  <c:v>30</c:v>
                </c:pt>
                <c:pt idx="69">
                  <c:v>30</c:v>
                </c:pt>
                <c:pt idx="70">
                  <c:v>30</c:v>
                </c:pt>
                <c:pt idx="71">
                  <c:v>30</c:v>
                </c:pt>
                <c:pt idx="72">
                  <c:v>30</c:v>
                </c:pt>
                <c:pt idx="73">
                  <c:v>30</c:v>
                </c:pt>
                <c:pt idx="74">
                  <c:v>30</c:v>
                </c:pt>
                <c:pt idx="75">
                  <c:v>30</c:v>
                </c:pt>
                <c:pt idx="76">
                  <c:v>30</c:v>
                </c:pt>
                <c:pt idx="77">
                  <c:v>30</c:v>
                </c:pt>
                <c:pt idx="78">
                  <c:v>30</c:v>
                </c:pt>
                <c:pt idx="79">
                  <c:v>30</c:v>
                </c:pt>
                <c:pt idx="80">
                  <c:v>30</c:v>
                </c:pt>
                <c:pt idx="81">
                  <c:v>30</c:v>
                </c:pt>
                <c:pt idx="82">
                  <c:v>30</c:v>
                </c:pt>
                <c:pt idx="83">
                  <c:v>30</c:v>
                </c:pt>
                <c:pt idx="84">
                  <c:v>30</c:v>
                </c:pt>
                <c:pt idx="85">
                  <c:v>30</c:v>
                </c:pt>
                <c:pt idx="86">
                  <c:v>30</c:v>
                </c:pt>
                <c:pt idx="87">
                  <c:v>30</c:v>
                </c:pt>
                <c:pt idx="88">
                  <c:v>30</c:v>
                </c:pt>
                <c:pt idx="89">
                  <c:v>30</c:v>
                </c:pt>
                <c:pt idx="90">
                  <c:v>30</c:v>
                </c:pt>
                <c:pt idx="91">
                  <c:v>30</c:v>
                </c:pt>
                <c:pt idx="92">
                  <c:v>30</c:v>
                </c:pt>
                <c:pt idx="93">
                  <c:v>30</c:v>
                </c:pt>
                <c:pt idx="94">
                  <c:v>30</c:v>
                </c:pt>
                <c:pt idx="95">
                  <c:v>30</c:v>
                </c:pt>
                <c:pt idx="96">
                  <c:v>30</c:v>
                </c:pt>
                <c:pt idx="97">
                  <c:v>30</c:v>
                </c:pt>
                <c:pt idx="98">
                  <c:v>30</c:v>
                </c:pt>
                <c:pt idx="99">
                  <c:v>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4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480"/>
                    </a:solidFill>
                    <a:latin typeface="+mn-lt"/>
                  </a:rPr>
                  <a:t>time step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4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DADD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4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A425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A425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3A4250"/>
                </a:solidFill>
                <a:latin typeface="+mn-lt"/>
              </a:rPr>
              <a:t>Their scoring vs my estimate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ruler-chart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0&quot;× stricter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F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traffic</c:v>
                  </c:pt>
                  <c:pt idx="1">
                    <c:v>supply chain</c:v>
                  </c:pt>
                  <c:pt idx="2">
                    <c:v>ad auction</c:v>
                  </c:pt>
                  <c:pt idx="3">
                    <c:v>reservoir</c:v>
                  </c:pt>
                  <c:pt idx="4">
                    <c:v>power grid</c:v>
                  </c:pt>
                  <c:pt idx="5">
                    <c:v>hospital</c:v>
                  </c:pt>
                  <c:pt idx="6">
                    <c:v>wildlife</c:v>
                  </c:pt>
                  <c:pt idx="7">
                    <c:v>social</c:v>
                  </c:pt>
                  <c:pt idx="8">
                    <c:v>epidemic</c:v>
                  </c:pt>
                  <c:pt idx="9">
                    <c:v>market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1.8</c:v>
                </c:pt>
                <c:pt idx="1">
                  <c:v>1.8</c:v>
                </c:pt>
                <c:pt idx="2">
                  <c:v>1.9</c:v>
                </c:pt>
                <c:pt idx="3">
                  <c:v>2.3</c:v>
                </c:pt>
                <c:pt idx="4">
                  <c:v>2.3</c:v>
                </c:pt>
                <c:pt idx="5">
                  <c:v>4.3</c:v>
                </c:pt>
                <c:pt idx="6">
                  <c:v>5.9</c:v>
                </c:pt>
                <c:pt idx="7">
                  <c:v>6.5</c:v>
                </c:pt>
                <c:pt idx="8">
                  <c:v>7.7</c:v>
                </c:pt>
                <c:pt idx="9">
                  <c:v>11.8</c:v>
                </c:pt>
              </c:numCache>
            </c:numRef>
          </c:val>
        </c:ser>
        <c:dLbls>
          <c:numFmt formatCode="0&quot;× stricter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1F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42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 reservoir inflow</c:v>
                </c:pt>
              </c:strCache>
            </c:strRef>
          </c:tx>
          <c:spPr>
            <a:solidFill>
              <a:srgbClr val="A3ABB3"/>
            </a:solidFill>
            <a:ln w="25400" cap="flat">
              <a:solidFill>
                <a:srgbClr val="A3ABB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A3ABB3"/>
              </a:solidFill>
              <a:ln w="9525" cap="flat">
                <a:solidFill>
                  <a:srgbClr val="A3ABB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Sheet1!$A$2:$A$101</c:f>
              <c:multiLvlStrCache>
                <c:ptCount val="100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60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120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180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240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</c:lvl>
              </c:multiLvlStrCache>
            </c:multiLvlStr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13.19</c:v>
                </c:pt>
                <c:pt idx="1">
                  <c:v>12.79</c:v>
                </c:pt>
                <c:pt idx="2">
                  <c:v>12.96</c:v>
                </c:pt>
                <c:pt idx="3">
                  <c:v>13.17</c:v>
                </c:pt>
                <c:pt idx="4">
                  <c:v>13.33</c:v>
                </c:pt>
                <c:pt idx="5">
                  <c:v>13.35</c:v>
                </c:pt>
                <c:pt idx="6">
                  <c:v>13.45</c:v>
                </c:pt>
                <c:pt idx="7">
                  <c:v>13.33</c:v>
                </c:pt>
                <c:pt idx="8">
                  <c:v>13.03</c:v>
                </c:pt>
                <c:pt idx="9">
                  <c:v>12.43</c:v>
                </c:pt>
                <c:pt idx="10">
                  <c:v>11.89</c:v>
                </c:pt>
                <c:pt idx="11">
                  <c:v>11.33</c:v>
                </c:pt>
                <c:pt idx="12">
                  <c:v>10.63</c:v>
                </c:pt>
                <c:pt idx="13">
                  <c:v>10.1</c:v>
                </c:pt>
                <c:pt idx="14">
                  <c:v>9.86</c:v>
                </c:pt>
                <c:pt idx="15">
                  <c:v>9.53</c:v>
                </c:pt>
                <c:pt idx="16">
                  <c:v>9.27</c:v>
                </c:pt>
                <c:pt idx="17">
                  <c:v>9.39</c:v>
                </c:pt>
                <c:pt idx="18">
                  <c:v>9.54</c:v>
                </c:pt>
                <c:pt idx="19">
                  <c:v>9.86</c:v>
                </c:pt>
                <c:pt idx="20">
                  <c:v>10.35</c:v>
                </c:pt>
                <c:pt idx="21">
                  <c:v>10.94</c:v>
                </c:pt>
                <c:pt idx="22">
                  <c:v>11.43</c:v>
                </c:pt>
                <c:pt idx="23">
                  <c:v>12.05</c:v>
                </c:pt>
                <c:pt idx="24">
                  <c:v>12.64</c:v>
                </c:pt>
                <c:pt idx="25">
                  <c:v>13.16</c:v>
                </c:pt>
                <c:pt idx="26">
                  <c:v>13.48</c:v>
                </c:pt>
                <c:pt idx="27">
                  <c:v>13.76</c:v>
                </c:pt>
                <c:pt idx="28">
                  <c:v>13.7</c:v>
                </c:pt>
                <c:pt idx="29">
                  <c:v>13.54</c:v>
                </c:pt>
                <c:pt idx="30">
                  <c:v>13.3</c:v>
                </c:pt>
                <c:pt idx="31">
                  <c:v>13.11</c:v>
                </c:pt>
                <c:pt idx="32">
                  <c:v>12.31</c:v>
                </c:pt>
                <c:pt idx="33">
                  <c:v>11.8</c:v>
                </c:pt>
                <c:pt idx="34">
                  <c:v>11.16</c:v>
                </c:pt>
                <c:pt idx="35">
                  <c:v>10.73</c:v>
                </c:pt>
                <c:pt idx="36">
                  <c:v>10.29</c:v>
                </c:pt>
                <c:pt idx="37">
                  <c:v>9.88</c:v>
                </c:pt>
                <c:pt idx="38">
                  <c:v>9.64</c:v>
                </c:pt>
                <c:pt idx="39">
                  <c:v>9.47</c:v>
                </c:pt>
                <c:pt idx="40">
                  <c:v>9.56</c:v>
                </c:pt>
                <c:pt idx="41">
                  <c:v>9.72</c:v>
                </c:pt>
                <c:pt idx="42">
                  <c:v>10.24</c:v>
                </c:pt>
                <c:pt idx="43">
                  <c:v>10.78</c:v>
                </c:pt>
                <c:pt idx="44">
                  <c:v>11.19</c:v>
                </c:pt>
                <c:pt idx="45">
                  <c:v>11.79</c:v>
                </c:pt>
                <c:pt idx="46">
                  <c:v>12.43</c:v>
                </c:pt>
                <c:pt idx="47">
                  <c:v>12.93</c:v>
                </c:pt>
                <c:pt idx="48">
                  <c:v>13.5</c:v>
                </c:pt>
                <c:pt idx="49">
                  <c:v>13.63</c:v>
                </c:pt>
                <c:pt idx="50">
                  <c:v>13.76</c:v>
                </c:pt>
                <c:pt idx="51">
                  <c:v>13.74</c:v>
                </c:pt>
                <c:pt idx="52">
                  <c:v>13.49</c:v>
                </c:pt>
                <c:pt idx="53">
                  <c:v>13.22</c:v>
                </c:pt>
                <c:pt idx="54">
                  <c:v>12.87</c:v>
                </c:pt>
                <c:pt idx="55">
                  <c:v>12.18</c:v>
                </c:pt>
                <c:pt idx="56">
                  <c:v>11.57</c:v>
                </c:pt>
                <c:pt idx="57">
                  <c:v>11.02</c:v>
                </c:pt>
                <c:pt idx="58">
                  <c:v>10.5</c:v>
                </c:pt>
                <c:pt idx="59">
                  <c:v>10.04</c:v>
                </c:pt>
                <c:pt idx="60">
                  <c:v>9.7</c:v>
                </c:pt>
                <c:pt idx="61">
                  <c:v>9.57</c:v>
                </c:pt>
                <c:pt idx="62">
                  <c:v>9.57</c:v>
                </c:pt>
                <c:pt idx="63">
                  <c:v>9.63</c:v>
                </c:pt>
                <c:pt idx="64">
                  <c:v>9.95</c:v>
                </c:pt>
                <c:pt idx="65">
                  <c:v>10.47</c:v>
                </c:pt>
                <c:pt idx="66">
                  <c:v>10.91</c:v>
                </c:pt>
                <c:pt idx="67">
                  <c:v>11.4</c:v>
                </c:pt>
                <c:pt idx="68">
                  <c:v>11.86</c:v>
                </c:pt>
                <c:pt idx="69">
                  <c:v>12.23</c:v>
                </c:pt>
                <c:pt idx="70">
                  <c:v>12.84</c:v>
                </c:pt>
                <c:pt idx="71">
                  <c:v>13.18</c:v>
                </c:pt>
                <c:pt idx="72">
                  <c:v>13.43</c:v>
                </c:pt>
                <c:pt idx="73">
                  <c:v>13.33</c:v>
                </c:pt>
                <c:pt idx="74">
                  <c:v>13.57</c:v>
                </c:pt>
                <c:pt idx="75">
                  <c:v>13.29</c:v>
                </c:pt>
                <c:pt idx="76">
                  <c:v>12.91</c:v>
                </c:pt>
                <c:pt idx="77">
                  <c:v>12.3</c:v>
                </c:pt>
                <c:pt idx="78">
                  <c:v>11.53</c:v>
                </c:pt>
                <c:pt idx="79">
                  <c:v>11.02</c:v>
                </c:pt>
                <c:pt idx="80">
                  <c:v>10.51</c:v>
                </c:pt>
                <c:pt idx="81">
                  <c:v>9.88</c:v>
                </c:pt>
                <c:pt idx="82">
                  <c:v>9.49</c:v>
                </c:pt>
                <c:pt idx="83">
                  <c:v>9.22</c:v>
                </c:pt>
                <c:pt idx="84">
                  <c:v>9.03</c:v>
                </c:pt>
                <c:pt idx="85">
                  <c:v>9.08</c:v>
                </c:pt>
                <c:pt idx="86">
                  <c:v>9.15</c:v>
                </c:pt>
                <c:pt idx="87">
                  <c:v>9.62</c:v>
                </c:pt>
                <c:pt idx="88">
                  <c:v>10.19</c:v>
                </c:pt>
                <c:pt idx="89">
                  <c:v>10.68</c:v>
                </c:pt>
                <c:pt idx="90">
                  <c:v>11.2</c:v>
                </c:pt>
                <c:pt idx="91">
                  <c:v>11.89</c:v>
                </c:pt>
                <c:pt idx="92">
                  <c:v>12.52</c:v>
                </c:pt>
                <c:pt idx="93">
                  <c:v>13.01</c:v>
                </c:pt>
                <c:pt idx="94">
                  <c:v>13.29</c:v>
                </c:pt>
                <c:pt idx="95">
                  <c:v>13.37</c:v>
                </c:pt>
                <c:pt idx="96">
                  <c:v>13.41</c:v>
                </c:pt>
                <c:pt idx="97">
                  <c:v>13.42</c:v>
                </c:pt>
                <c:pt idx="98">
                  <c:v>13.03</c:v>
                </c:pt>
                <c:pt idx="99">
                  <c:v>12.65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My wave fit</c:v>
                </c:pt>
              </c:strCache>
            </c:strRef>
          </c:tx>
          <c:spPr>
            <a:solidFill>
              <a:srgbClr val="2D6A4F"/>
            </a:solidFill>
            <a:ln w="25400" cap="flat">
              <a:solidFill>
                <a:srgbClr val="2D6A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D6A4F"/>
              </a:solidFill>
              <a:ln w="9525" cap="flat">
                <a:solidFill>
                  <a:srgbClr val="2D6A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Sheet1!$A$2:$A$101</c:f>
              <c:multiLvlStrCache>
                <c:ptCount val="100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60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120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180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240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</c:lvl>
              </c:multiLvlStrCache>
            </c:multiLvlStrRef>
          </c:cat>
          <c:val>
            <c:numRef>
              <c:f>Sheet1!$C$2:$C$101</c:f>
              <c:numCache>
                <c:formatCode>General</c:formatCode>
                <c:ptCount val="100"/>
                <c:pt idx="0">
                  <c:v>11.72</c:v>
                </c:pt>
                <c:pt idx="1">
                  <c:v>12.29</c:v>
                </c:pt>
                <c:pt idx="2">
                  <c:v>12.8</c:v>
                </c:pt>
                <c:pt idx="3">
                  <c:v>13.2</c:v>
                </c:pt>
                <c:pt idx="4">
                  <c:v>13.48</c:v>
                </c:pt>
                <c:pt idx="5">
                  <c:v>13.6</c:v>
                </c:pt>
                <c:pt idx="6">
                  <c:v>13.55</c:v>
                </c:pt>
                <c:pt idx="7">
                  <c:v>13.34</c:v>
                </c:pt>
                <c:pt idx="8">
                  <c:v>12.98</c:v>
                </c:pt>
                <c:pt idx="9">
                  <c:v>12.5</c:v>
                </c:pt>
                <c:pt idx="10">
                  <c:v>11.93</c:v>
                </c:pt>
                <c:pt idx="11">
                  <c:v>11.31</c:v>
                </c:pt>
                <c:pt idx="12">
                  <c:v>10.71</c:v>
                </c:pt>
                <c:pt idx="13">
                  <c:v>10.17</c:v>
                </c:pt>
                <c:pt idx="14">
                  <c:v>9.73</c:v>
                </c:pt>
                <c:pt idx="15">
                  <c:v>9.42</c:v>
                </c:pt>
                <c:pt idx="16">
                  <c:v>9.27</c:v>
                </c:pt>
                <c:pt idx="17">
                  <c:v>9.29</c:v>
                </c:pt>
                <c:pt idx="18">
                  <c:v>9.47</c:v>
                </c:pt>
                <c:pt idx="19">
                  <c:v>9.79</c:v>
                </c:pt>
                <c:pt idx="20">
                  <c:v>10.24</c:v>
                </c:pt>
                <c:pt idx="21">
                  <c:v>10.78</c:v>
                </c:pt>
                <c:pt idx="22">
                  <c:v>11.36</c:v>
                </c:pt>
                <c:pt idx="23">
                  <c:v>11.95</c:v>
                </c:pt>
                <c:pt idx="24">
                  <c:v>12.5</c:v>
                </c:pt>
                <c:pt idx="25">
                  <c:v>12.97</c:v>
                </c:pt>
                <c:pt idx="26">
                  <c:v>13.33</c:v>
                </c:pt>
                <c:pt idx="27">
                  <c:v>13.55</c:v>
                </c:pt>
                <c:pt idx="28">
                  <c:v>13.6</c:v>
                </c:pt>
                <c:pt idx="29">
                  <c:v>13.49</c:v>
                </c:pt>
                <c:pt idx="30">
                  <c:v>13.22</c:v>
                </c:pt>
                <c:pt idx="31">
                  <c:v>12.8</c:v>
                </c:pt>
                <c:pt idx="32">
                  <c:v>12.28</c:v>
                </c:pt>
                <c:pt idx="33">
                  <c:v>11.68</c:v>
                </c:pt>
                <c:pt idx="34">
                  <c:v>11.07</c:v>
                </c:pt>
                <c:pt idx="35">
                  <c:v>10.49</c:v>
                </c:pt>
                <c:pt idx="36">
                  <c:v>9.98</c:v>
                </c:pt>
                <c:pt idx="37">
                  <c:v>9.59</c:v>
                </c:pt>
                <c:pt idx="38">
                  <c:v>9.34</c:v>
                </c:pt>
                <c:pt idx="39">
                  <c:v>9.26</c:v>
                </c:pt>
                <c:pt idx="40">
                  <c:v>9.34</c:v>
                </c:pt>
                <c:pt idx="41">
                  <c:v>9.58</c:v>
                </c:pt>
                <c:pt idx="42">
                  <c:v>9.96</c:v>
                </c:pt>
                <c:pt idx="43">
                  <c:v>10.45</c:v>
                </c:pt>
                <c:pt idx="44">
                  <c:v>11.01</c:v>
                </c:pt>
                <c:pt idx="45">
                  <c:v>11.6</c:v>
                </c:pt>
                <c:pt idx="46">
                  <c:v>12.18</c:v>
                </c:pt>
                <c:pt idx="47">
                  <c:v>12.7</c:v>
                </c:pt>
                <c:pt idx="48">
                  <c:v>13.13</c:v>
                </c:pt>
                <c:pt idx="49">
                  <c:v>13.44</c:v>
                </c:pt>
                <c:pt idx="50">
                  <c:v>13.59</c:v>
                </c:pt>
                <c:pt idx="51">
                  <c:v>13.58</c:v>
                </c:pt>
                <c:pt idx="52">
                  <c:v>13.4</c:v>
                </c:pt>
                <c:pt idx="53">
                  <c:v>13.06</c:v>
                </c:pt>
                <c:pt idx="54">
                  <c:v>12.6</c:v>
                </c:pt>
                <c:pt idx="55">
                  <c:v>12.04</c:v>
                </c:pt>
                <c:pt idx="56">
                  <c:v>11.44</c:v>
                </c:pt>
                <c:pt idx="57">
                  <c:v>10.83</c:v>
                </c:pt>
                <c:pt idx="58">
                  <c:v>10.27</c:v>
                </c:pt>
                <c:pt idx="59">
                  <c:v>9.81</c:v>
                </c:pt>
                <c:pt idx="60">
                  <c:v>9.47</c:v>
                </c:pt>
                <c:pt idx="61">
                  <c:v>9.29</c:v>
                </c:pt>
                <c:pt idx="62">
                  <c:v>9.27</c:v>
                </c:pt>
                <c:pt idx="63">
                  <c:v>9.42</c:v>
                </c:pt>
                <c:pt idx="64">
                  <c:v>9.72</c:v>
                </c:pt>
                <c:pt idx="65">
                  <c:v>10.14</c:v>
                </c:pt>
                <c:pt idx="66">
                  <c:v>10.67</c:v>
                </c:pt>
                <c:pt idx="67">
                  <c:v>11.24</c:v>
                </c:pt>
                <c:pt idx="68">
                  <c:v>11.83</c:v>
                </c:pt>
                <c:pt idx="69">
                  <c:v>12.4</c:v>
                </c:pt>
                <c:pt idx="70">
                  <c:v>12.89</c:v>
                </c:pt>
                <c:pt idx="71">
                  <c:v>13.27</c:v>
                </c:pt>
                <c:pt idx="72">
                  <c:v>13.52</c:v>
                </c:pt>
                <c:pt idx="73">
                  <c:v>13.61</c:v>
                </c:pt>
                <c:pt idx="74">
                  <c:v>13.53</c:v>
                </c:pt>
                <c:pt idx="75">
                  <c:v>13.28</c:v>
                </c:pt>
                <c:pt idx="76">
                  <c:v>12.89</c:v>
                </c:pt>
                <c:pt idx="77">
                  <c:v>12.39</c:v>
                </c:pt>
                <c:pt idx="78">
                  <c:v>11.8</c:v>
                </c:pt>
                <c:pt idx="79">
                  <c:v>11.19</c:v>
                </c:pt>
                <c:pt idx="80">
                  <c:v>10.6</c:v>
                </c:pt>
                <c:pt idx="81">
                  <c:v>10.07</c:v>
                </c:pt>
                <c:pt idx="82">
                  <c:v>9.65</c:v>
                </c:pt>
                <c:pt idx="83">
                  <c:v>9.38</c:v>
                </c:pt>
                <c:pt idx="84">
                  <c:v>9.26</c:v>
                </c:pt>
                <c:pt idx="85">
                  <c:v>9.31</c:v>
                </c:pt>
                <c:pt idx="86">
                  <c:v>9.52</c:v>
                </c:pt>
                <c:pt idx="87">
                  <c:v>9.87</c:v>
                </c:pt>
                <c:pt idx="88">
                  <c:v>10.34</c:v>
                </c:pt>
                <c:pt idx="89">
                  <c:v>10.89</c:v>
                </c:pt>
                <c:pt idx="90">
                  <c:v>11.48</c:v>
                </c:pt>
                <c:pt idx="91">
                  <c:v>12.07</c:v>
                </c:pt>
                <c:pt idx="92">
                  <c:v>12.6</c:v>
                </c:pt>
                <c:pt idx="93">
                  <c:v>13.06</c:v>
                </c:pt>
                <c:pt idx="94">
                  <c:v>13.39</c:v>
                </c:pt>
                <c:pt idx="95">
                  <c:v>13.57</c:v>
                </c:pt>
                <c:pt idx="96">
                  <c:v>13.59</c:v>
                </c:pt>
                <c:pt idx="97">
                  <c:v>13.45</c:v>
                </c:pt>
                <c:pt idx="98">
                  <c:v>13.14</c:v>
                </c:pt>
                <c:pt idx="99">
                  <c:v>12.7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4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480"/>
                    </a:solidFill>
                    <a:latin typeface="+mn-lt"/>
                  </a:rPr>
                  <a:t>time step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4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8"/>
        </c:scaling>
        <c:delete val="0"/>
        <c:axPos val="l"/>
        <c:majorGridlines>
          <c:spPr>
            <a:ln w="6350" cap="flat">
              <a:solidFill>
                <a:srgbClr val="DADD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4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A425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AB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AB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dirty="0">
                <a:solidFill>
                  <a:schemeClr val="bg1"/>
                </a:solidFill>
              </a:rPr>
              <a:t>Forecasting Hidden Simulators</a:t>
            </a:r>
            <a:endParaRPr lang="en-US" sz="5400" dirty="0"/>
          </a:p>
        </p:txBody>
      </p:sp>
      <p:sp>
        <p:nvSpPr>
          <p:cNvPr id="3" name="sub"/>
          <p:cNvSpPr txBox="1"/>
          <p:nvPr/>
        </p:nvSpPr>
        <p:spPr>
          <a:xfrm>
            <a:off x="640080" y="2240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Learning 10 systems from limited data</a:t>
            </a:r>
            <a:endParaRPr lang="en-US" sz="2000" dirty="0"/>
          </a:p>
        </p:txBody>
      </p:sp>
      <p:sp>
        <p:nvSpPr>
          <p:cNvPr id="4" name="score"/>
          <p:cNvSpPr txBox="1"/>
          <p:nvPr/>
        </p:nvSpPr>
        <p:spPr>
          <a:xfrm>
            <a:off x="640080" y="3017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0.34  →  </a:t>
            </a:r>
            <a:pPr algn="l" indent="0" marL="0">
              <a:buNone/>
            </a:pPr>
            <a:r>
              <a:rPr lang="en-US" sz="3600" b="1" dirty="0">
                <a:solidFill>
                  <a:srgbClr val="8C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</a:t>
            </a:r>
            <a:endParaRPr lang="en-US" sz="3600" dirty="0"/>
          </a:p>
        </p:txBody>
      </p:sp>
      <p:sp>
        <p:nvSpPr>
          <p:cNvPr id="5" name="by"/>
          <p:cNvSpPr txBox="1"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Dylan Ho  ·  Instalily × Google DeepMind hackathon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How I read the problem</a:t>
            </a:r>
            <a:endParaRPr lang="en-US" sz="2800" dirty="0"/>
          </a:p>
        </p:txBody>
      </p:sp>
      <p:sp>
        <p:nvSpPr>
          <p:cNvPr id="3" name="h1"/>
          <p:cNvSpPr txBox="1"/>
          <p:nvPr/>
        </p:nvSpPr>
        <p:spPr>
          <a:xfrm>
            <a:off x="54864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The constraint</a:t>
            </a:r>
            <a:endParaRPr lang="en-US" sz="1200" dirty="0"/>
          </a:p>
        </p:txBody>
      </p:sp>
      <p:sp>
        <p:nvSpPr>
          <p:cNvPr id="4" name="h2"/>
          <p:cNvSpPr txBox="1"/>
          <p:nvPr/>
        </p:nvSpPr>
        <p:spPr>
          <a:xfrm>
            <a:off x="457200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What it meant for my strategy</a:t>
            </a:r>
            <a:endParaRPr lang="en-US" sz="1200" dirty="0"/>
          </a:p>
        </p:txBody>
      </p:sp>
      <p:sp>
        <p:nvSpPr>
          <p:cNvPr id="5" name="row-0"/>
          <p:cNvSpPr/>
          <p:nvPr/>
        </p:nvSpPr>
        <p:spPr>
          <a:xfrm>
            <a:off x="548640" y="1645920"/>
            <a:ext cx="8046720" cy="62179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c-0"/>
          <p:cNvSpPr txBox="1"/>
          <p:nvPr/>
        </p:nvSpPr>
        <p:spPr>
          <a:xfrm>
            <a:off x="731520" y="164592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Only 2,000 steps of data</a:t>
            </a:r>
            <a:endParaRPr lang="en-US" sz="1600" dirty="0"/>
          </a:p>
        </p:txBody>
      </p:sp>
      <p:sp>
        <p:nvSpPr>
          <p:cNvPr id="7" name="a-0"/>
          <p:cNvSpPr/>
          <p:nvPr/>
        </p:nvSpPr>
        <p:spPr>
          <a:xfrm>
            <a:off x="3931920" y="1956816"/>
            <a:ext cx="411480" cy="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  <a:tailEnd type="triangle"/>
          </a:ln>
        </p:spPr>
      </p:sp>
      <p:sp>
        <p:nvSpPr>
          <p:cNvPr id="8" name="m-0"/>
          <p:cNvSpPr txBox="1"/>
          <p:nvPr/>
        </p:nvSpPr>
        <p:spPr>
          <a:xfrm>
            <a:off x="4572000" y="1645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Every step has to answer a question</a:t>
            </a:r>
            <a:endParaRPr lang="en-US" sz="1600" dirty="0"/>
          </a:p>
        </p:txBody>
      </p:sp>
      <p:sp>
        <p:nvSpPr>
          <p:cNvPr id="9" name="row-1"/>
          <p:cNvSpPr/>
          <p:nvPr/>
        </p:nvSpPr>
        <p:spPr>
          <a:xfrm>
            <a:off x="548640" y="2395728"/>
            <a:ext cx="8046720" cy="62179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0" name="c-1"/>
          <p:cNvSpPr txBox="1"/>
          <p:nvPr/>
        </p:nvSpPr>
        <p:spPr>
          <a:xfrm>
            <a:off x="731520" y="239572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Predict 4,000 steps blind</a:t>
            </a:r>
            <a:endParaRPr lang="en-US" sz="1600" dirty="0"/>
          </a:p>
        </p:txBody>
      </p:sp>
      <p:sp>
        <p:nvSpPr>
          <p:cNvPr id="11" name="a-1"/>
          <p:cNvSpPr/>
          <p:nvPr/>
        </p:nvSpPr>
        <p:spPr>
          <a:xfrm>
            <a:off x="3931920" y="2706624"/>
            <a:ext cx="411480" cy="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  <a:tailEnd type="triangle"/>
          </a:ln>
        </p:spPr>
      </p:sp>
      <p:sp>
        <p:nvSpPr>
          <p:cNvPr id="12" name="m-1"/>
          <p:cNvSpPr txBox="1"/>
          <p:nvPr/>
        </p:nvSpPr>
        <p:spPr>
          <a:xfrm>
            <a:off x="4572000" y="239572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Need real structure, not curve fits</a:t>
            </a:r>
            <a:endParaRPr lang="en-US" sz="1600" dirty="0"/>
          </a:p>
        </p:txBody>
      </p:sp>
      <p:sp>
        <p:nvSpPr>
          <p:cNvPr id="13" name="row-2"/>
          <p:cNvSpPr/>
          <p:nvPr/>
        </p:nvSpPr>
        <p:spPr>
          <a:xfrm>
            <a:off x="548640" y="3145536"/>
            <a:ext cx="8046720" cy="62179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c-2"/>
          <p:cNvSpPr txBox="1"/>
          <p:nvPr/>
        </p:nvSpPr>
        <p:spPr>
          <a:xfrm>
            <a:off x="731520" y="314553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3 uploads a day</a:t>
            </a:r>
            <a:endParaRPr lang="en-US" sz="1600" dirty="0"/>
          </a:p>
        </p:txBody>
      </p:sp>
      <p:sp>
        <p:nvSpPr>
          <p:cNvPr id="15" name="a-2"/>
          <p:cNvSpPr/>
          <p:nvPr/>
        </p:nvSpPr>
        <p:spPr>
          <a:xfrm>
            <a:off x="3931920" y="3456432"/>
            <a:ext cx="411480" cy="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  <a:tailEnd type="triangle"/>
          </a:ln>
        </p:spPr>
      </p:sp>
      <p:sp>
        <p:nvSpPr>
          <p:cNvPr id="16" name="m-2"/>
          <p:cNvSpPr txBox="1"/>
          <p:nvPr/>
        </p:nvSpPr>
        <p:spPr>
          <a:xfrm>
            <a:off x="4572000" y="314553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Every upload is an experiment</a:t>
            </a:r>
            <a:endParaRPr lang="en-US" sz="1600" dirty="0"/>
          </a:p>
        </p:txBody>
      </p:sp>
      <p:sp>
        <p:nvSpPr>
          <p:cNvPr id="17" name="row-3"/>
          <p:cNvSpPr/>
          <p:nvPr/>
        </p:nvSpPr>
        <p:spPr>
          <a:xfrm>
            <a:off x="548640" y="3895344"/>
            <a:ext cx="8046720" cy="62179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8" name="c-3"/>
          <p:cNvSpPr txBox="1"/>
          <p:nvPr/>
        </p:nvSpPr>
        <p:spPr>
          <a:xfrm>
            <a:off x="731520" y="389534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Score rewards being close</a:t>
            </a:r>
            <a:endParaRPr lang="en-US" sz="1600" dirty="0"/>
          </a:p>
        </p:txBody>
      </p:sp>
      <p:sp>
        <p:nvSpPr>
          <p:cNvPr id="19" name="a-3"/>
          <p:cNvSpPr/>
          <p:nvPr/>
        </p:nvSpPr>
        <p:spPr>
          <a:xfrm>
            <a:off x="3931920" y="4206240"/>
            <a:ext cx="411480" cy="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  <a:tailEnd type="triangle"/>
          </a:ln>
        </p:spPr>
      </p:sp>
      <p:sp>
        <p:nvSpPr>
          <p:cNvPr id="20" name="m-3"/>
          <p:cNvSpPr txBox="1"/>
          <p:nvPr/>
        </p:nvSpPr>
        <p:spPr>
          <a:xfrm>
            <a:off x="4572000" y="389534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Don't hedge toward the average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AB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My process: one loop, every day</a:t>
            </a:r>
            <a:endParaRPr lang="en-US" sz="2800" dirty="0"/>
          </a:p>
        </p:txBody>
      </p:sp>
      <p:sp>
        <p:nvSpPr>
          <p:cNvPr id="3" name="box-0"/>
          <p:cNvSpPr/>
          <p:nvPr/>
        </p:nvSpPr>
        <p:spPr>
          <a:xfrm>
            <a:off x="548640" y="1325880"/>
            <a:ext cx="1783080" cy="11887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box-h-0"/>
          <p:cNvSpPr txBox="1"/>
          <p:nvPr/>
        </p:nvSpPr>
        <p:spPr>
          <a:xfrm>
            <a:off x="731520" y="1554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data</a:t>
            </a:r>
            <a:endParaRPr lang="en-US" sz="1800" dirty="0"/>
          </a:p>
        </p:txBody>
      </p:sp>
      <p:sp>
        <p:nvSpPr>
          <p:cNvPr id="5" name="box-b-0"/>
          <p:cNvSpPr txBox="1"/>
          <p:nvPr/>
        </p:nvSpPr>
        <p:spPr>
          <a:xfrm>
            <a:off x="731520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costs budget</a:t>
            </a:r>
            <a:endParaRPr lang="en-US" sz="1250" dirty="0"/>
          </a:p>
        </p:txBody>
      </p:sp>
      <p:sp>
        <p:nvSpPr>
          <p:cNvPr id="6" name="arrow-0"/>
          <p:cNvSpPr/>
          <p:nvPr/>
        </p:nvSpPr>
        <p:spPr>
          <a:xfrm>
            <a:off x="2377440" y="1920240"/>
            <a:ext cx="210312" cy="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  <a:tailEnd type="triangle"/>
          </a:ln>
        </p:spPr>
      </p:sp>
      <p:sp>
        <p:nvSpPr>
          <p:cNvPr id="7" name="box-1"/>
          <p:cNvSpPr/>
          <p:nvPr/>
        </p:nvSpPr>
        <p:spPr>
          <a:xfrm>
            <a:off x="2633472" y="1325880"/>
            <a:ext cx="1783080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box-h-1"/>
          <p:cNvSpPr txBox="1"/>
          <p:nvPr/>
        </p:nvSpPr>
        <p:spPr>
          <a:xfrm>
            <a:off x="2816352" y="1554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models</a:t>
            </a:r>
            <a:endParaRPr lang="en-US" sz="1800" dirty="0"/>
          </a:p>
        </p:txBody>
      </p:sp>
      <p:sp>
        <p:nvSpPr>
          <p:cNvPr id="9" name="box-b-1"/>
          <p:cNvSpPr txBox="1"/>
          <p:nvPr/>
        </p:nvSpPr>
        <p:spPr>
          <a:xfrm>
            <a:off x="2816352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equations from the brief</a:t>
            </a:r>
            <a:endParaRPr lang="en-US" sz="1250" dirty="0"/>
          </a:p>
        </p:txBody>
      </p:sp>
      <p:sp>
        <p:nvSpPr>
          <p:cNvPr id="10" name="arrow-1"/>
          <p:cNvSpPr/>
          <p:nvPr/>
        </p:nvSpPr>
        <p:spPr>
          <a:xfrm>
            <a:off x="4462272" y="1920240"/>
            <a:ext cx="210312" cy="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  <a:tailEnd type="triangle"/>
          </a:ln>
        </p:spPr>
      </p:sp>
      <p:sp>
        <p:nvSpPr>
          <p:cNvPr id="11" name="box-2"/>
          <p:cNvSpPr/>
          <p:nvPr/>
        </p:nvSpPr>
        <p:spPr>
          <a:xfrm>
            <a:off x="4718304" y="1325880"/>
            <a:ext cx="1783080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box-h-2"/>
          <p:cNvSpPr txBox="1"/>
          <p:nvPr/>
        </p:nvSpPr>
        <p:spPr>
          <a:xfrm>
            <a:off x="4901184" y="1554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</a:t>
            </a:r>
            <a:endParaRPr lang="en-US" sz="1800" dirty="0"/>
          </a:p>
        </p:txBody>
      </p:sp>
      <p:sp>
        <p:nvSpPr>
          <p:cNvPr id="13" name="box-b-2"/>
          <p:cNvSpPr txBox="1"/>
          <p:nvPr/>
        </p:nvSpPr>
        <p:spPr>
          <a:xfrm>
            <a:off x="4901184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free, runs locally</a:t>
            </a:r>
            <a:endParaRPr lang="en-US" sz="1250" dirty="0"/>
          </a:p>
        </p:txBody>
      </p:sp>
      <p:sp>
        <p:nvSpPr>
          <p:cNvPr id="14" name="arrow-2"/>
          <p:cNvSpPr/>
          <p:nvPr/>
        </p:nvSpPr>
        <p:spPr>
          <a:xfrm>
            <a:off x="6547104" y="1920240"/>
            <a:ext cx="210312" cy="0"/>
          </a:xfrm>
          <a:prstGeom prst="line">
            <a:avLst/>
          </a:prstGeom>
          <a:noFill/>
          <a:ln w="19050">
            <a:solidFill>
              <a:srgbClr val="6B7480"/>
            </a:solidFill>
            <a:prstDash val="solid"/>
            <a:tailEnd type="triangle"/>
          </a:ln>
        </p:spPr>
      </p:sp>
      <p:sp>
        <p:nvSpPr>
          <p:cNvPr id="15" name="box-3"/>
          <p:cNvSpPr/>
          <p:nvPr/>
        </p:nvSpPr>
        <p:spPr>
          <a:xfrm>
            <a:off x="6803136" y="1325880"/>
            <a:ext cx="1783080" cy="11887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6" name="box-h-3"/>
          <p:cNvSpPr txBox="1"/>
          <p:nvPr/>
        </p:nvSpPr>
        <p:spPr>
          <a:xfrm>
            <a:off x="6986016" y="1554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800" dirty="0"/>
          </a:p>
        </p:txBody>
      </p:sp>
      <p:sp>
        <p:nvSpPr>
          <p:cNvPr id="17" name="box-b-3"/>
          <p:cNvSpPr txBox="1"/>
          <p:nvPr/>
        </p:nvSpPr>
        <p:spPr>
          <a:xfrm>
            <a:off x="6986016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accent3"/>
                </a:solidFill>
              </a:rPr>
              <a:t>public score</a:t>
            </a:r>
            <a:endParaRPr lang="en-US" sz="1250" dirty="0"/>
          </a:p>
        </p:txBody>
      </p:sp>
      <p:sp>
        <p:nvSpPr>
          <p:cNvPr id="18" name="ret-down"/>
          <p:cNvSpPr/>
          <p:nvPr/>
        </p:nvSpPr>
        <p:spPr>
          <a:xfrm>
            <a:off x="7694676" y="2514600"/>
            <a:ext cx="0" cy="36576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19" name="ret-across"/>
          <p:cNvSpPr/>
          <p:nvPr/>
        </p:nvSpPr>
        <p:spPr>
          <a:xfrm>
            <a:off x="1440180" y="2880360"/>
            <a:ext cx="6254496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20" name="ret-up"/>
          <p:cNvSpPr/>
          <p:nvPr/>
        </p:nvSpPr>
        <p:spPr>
          <a:xfrm flipV="1">
            <a:off x="1440180" y="2532888"/>
            <a:ext cx="0" cy="347472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1" name="ret-lab"/>
          <p:cNvSpPr txBox="1"/>
          <p:nvPr/>
        </p:nvSpPr>
        <p:spPr>
          <a:xfrm>
            <a:off x="2354580" y="2953512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the result decides what's next</a:t>
            </a:r>
            <a:endParaRPr lang="en-US" sz="1200" dirty="0"/>
          </a:p>
        </p:txBody>
      </p:sp>
      <p:sp>
        <p:nvSpPr>
          <p:cNvPr id="22" name="sim-h"/>
          <p:cNvSpPr txBox="1"/>
          <p:nvPr/>
        </p:nvSpPr>
        <p:spPr>
          <a:xfrm>
            <a:off x="548640" y="3703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Key idea</a:t>
            </a:r>
            <a:endParaRPr lang="en-US" sz="1400" dirty="0"/>
          </a:p>
        </p:txBody>
      </p:sp>
      <p:sp>
        <p:nvSpPr>
          <p:cNvPr id="23" name="sim-b"/>
          <p:cNvSpPr txBox="1"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Dark boxes are scarce: real data and uploads</a:t>
            </a:r>
            <a:endParaRPr lang="en-US" sz="1300" dirty="0"/>
          </a:p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Light boxes are free: test as much as I want locally</a:t>
            </a:r>
            <a:endParaRPr lang="en-US" sz="1300" dirty="0"/>
          </a:p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So: do the thinking for free, spend the scarce stuff carefully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AB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Inside one model</a:t>
            </a:r>
            <a:endParaRPr lang="en-US" sz="2800" dirty="0"/>
          </a:p>
        </p:txBody>
      </p:sp>
      <p:sp>
        <p:nvSpPr>
          <p:cNvPr id="3" name="n-0"/>
          <p:cNvSpPr txBox="1"/>
          <p:nvPr/>
        </p:nvSpPr>
        <p:spPr>
          <a:xfrm>
            <a:off x="54864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sh-0"/>
          <p:cNvSpPr txBox="1"/>
          <p:nvPr/>
        </p:nvSpPr>
        <p:spPr>
          <a:xfrm>
            <a:off x="960120" y="1325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 the brief</a:t>
            </a:r>
            <a:endParaRPr lang="en-US" sz="1500" dirty="0"/>
          </a:p>
        </p:txBody>
      </p:sp>
      <p:sp>
        <p:nvSpPr>
          <p:cNvPr id="5" name="sb-0"/>
          <p:cNvSpPr txBox="1"/>
          <p:nvPr/>
        </p:nvSpPr>
        <p:spPr>
          <a:xfrm>
            <a:off x="960120" y="16276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pick stocks, delays, caps and the 3 named mechanisms</a:t>
            </a:r>
            <a:endParaRPr lang="en-US" sz="1250" dirty="0"/>
          </a:p>
        </p:txBody>
      </p:sp>
      <p:sp>
        <p:nvSpPr>
          <p:cNvPr id="6" name="n-1"/>
          <p:cNvSpPr txBox="1"/>
          <p:nvPr/>
        </p:nvSpPr>
        <p:spPr>
          <a:xfrm>
            <a:off x="5486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sh-1"/>
          <p:cNvSpPr txBox="1"/>
          <p:nvPr/>
        </p:nvSpPr>
        <p:spPr>
          <a:xfrm>
            <a:off x="960120" y="2148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Write the ODE</a:t>
            </a:r>
            <a:endParaRPr lang="en-US" sz="1500" dirty="0"/>
          </a:p>
        </p:txBody>
      </p:sp>
      <p:sp>
        <p:nvSpPr>
          <p:cNvPr id="8" name="sb-1"/>
          <p:cNvSpPr txBox="1"/>
          <p:nvPr/>
        </p:nvSpPr>
        <p:spPr>
          <a:xfrm>
            <a:off x="960120" y="24505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≤ 8 states, ≤ 12 fitted parameters, RK4 integration</a:t>
            </a:r>
            <a:endParaRPr lang="en-US" sz="1250" dirty="0"/>
          </a:p>
        </p:txBody>
      </p:sp>
      <p:sp>
        <p:nvSpPr>
          <p:cNvPr id="9" name="n-2"/>
          <p:cNvSpPr txBox="1"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sh-2"/>
          <p:cNvSpPr txBox="1"/>
          <p:nvPr/>
        </p:nvSpPr>
        <p:spPr>
          <a:xfrm>
            <a:off x="960120" y="2971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Fit it</a:t>
            </a:r>
            <a:endParaRPr lang="en-US" sz="1500" dirty="0"/>
          </a:p>
        </p:txBody>
      </p:sp>
      <p:sp>
        <p:nvSpPr>
          <p:cNvPr id="11" name="sb-2"/>
          <p:cNvSpPr txBox="1"/>
          <p:nvPr/>
        </p:nvSpPr>
        <p:spPr>
          <a:xfrm>
            <a:off x="960120" y="32735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robust (Cauchy) least squares, 10 random starts</a:t>
            </a:r>
            <a:endParaRPr lang="en-US" sz="1250" dirty="0"/>
          </a:p>
        </p:txBody>
      </p:sp>
      <p:sp>
        <p:nvSpPr>
          <p:cNvPr id="12" name="n-3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sh-3"/>
          <p:cNvSpPr txBox="1"/>
          <p:nvPr/>
        </p:nvSpPr>
        <p:spPr>
          <a:xfrm>
            <a:off x="960120" y="3794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Validate it</a:t>
            </a:r>
            <a:endParaRPr lang="en-US" sz="1500" dirty="0"/>
          </a:p>
        </p:txBody>
      </p:sp>
      <p:sp>
        <p:nvSpPr>
          <p:cNvPr id="14" name="sb-3"/>
          <p:cNvSpPr txBox="1"/>
          <p:nvPr/>
        </p:nvSpPr>
        <p:spPr>
          <a:xfrm>
            <a:off x="960120" y="40965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leave-one-run-out, scored at the organizers' σ</a:t>
            </a:r>
            <a:endParaRPr lang="en-US" sz="1250" dirty="0"/>
          </a:p>
        </p:txBody>
      </p:sp>
      <p:sp>
        <p:nvSpPr>
          <p:cNvPr id="15" name="eq-bg"/>
          <p:cNvSpPr/>
          <p:nvPr/>
        </p:nvSpPr>
        <p:spPr>
          <a:xfrm>
            <a:off x="4663440" y="1325880"/>
            <a:ext cx="3931920" cy="32461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6" name="eq-h"/>
          <p:cNvSpPr txBox="1"/>
          <p:nvPr/>
        </p:nvSpPr>
        <p:spPr>
          <a:xfrm>
            <a:off x="489204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C7A8"/>
                </a:solidFill>
              </a:rPr>
              <a:t>Example: reservoir</a:t>
            </a:r>
            <a:endParaRPr lang="en-US" sz="1200" dirty="0"/>
          </a:p>
        </p:txBody>
      </p:sp>
      <p:sp>
        <p:nvSpPr>
          <p:cNvPr id="17" name="eq"/>
          <p:cNvSpPr txBox="1"/>
          <p:nvPr/>
        </p:nvSpPr>
        <p:spPr>
          <a:xfrm>
            <a:off x="4892040" y="187452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dL/dt = inflow(t) − c·(L/500)^p − seep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≤ 941   (hard cap)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inflow(t) = 11.43 + 2.15·sin(2πt / 67.8)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outflow = delivery + spill when full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quality: first-order in aeration</a:t>
            </a:r>
            <a:endParaRPr lang="en-US" sz="1150" dirty="0"/>
          </a:p>
        </p:txBody>
      </p:sp>
      <p:sp>
        <p:nvSpPr>
          <p:cNvPr id="18" name="eq-note"/>
          <p:cNvSpPr txBox="1"/>
          <p:nvPr/>
        </p:nvSpPr>
        <p:spPr>
          <a:xfrm>
            <a:off x="4892040" y="3840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Every term comes from a line in the brief. Only the constants are fitted.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AB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Strong and weak systems got different playbooks</a:t>
            </a:r>
            <a:endParaRPr lang="en-US" sz="2800" dirty="0"/>
          </a:p>
        </p:txBody>
      </p:sp>
      <p:graphicFrame>
        <p:nvGraphicFramePr>
          <p:cNvPr id="3" name="spend-chart" descr=""/>
          <p:cNvGraphicFramePr/>
          <p:nvPr/>
        </p:nvGraphicFramePr>
        <p:xfrm>
          <a:off x="411480" y="1234440"/>
          <a:ext cx="52120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-h"/>
          <p:cNvSpPr txBox="1"/>
          <p:nvPr/>
        </p:nvSpPr>
        <p:spPr>
          <a:xfrm>
            <a:off x="58978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Strong (0.78–0.89)</a:t>
            </a:r>
            <a:endParaRPr lang="en-US" sz="1400" dirty="0"/>
          </a:p>
        </p:txBody>
      </p:sp>
      <p:sp>
        <p:nvSpPr>
          <p:cNvPr id="5" name="st-b"/>
          <p:cNvSpPr txBox="1"/>
          <p:nvPr/>
        </p:nvSpPr>
        <p:spPr>
          <a:xfrm>
            <a:off x="5897880" y="157276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One structure clearly fits</a:t>
            </a:r>
            <a:endParaRPr lang="en-US" sz="13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Refine details: delays, caps, bins</a:t>
            </a:r>
            <a:endParaRPr lang="en-US" sz="13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Keep data in reserve</a:t>
            </a:r>
            <a:endParaRPr lang="en-US" sz="1300" dirty="0"/>
          </a:p>
        </p:txBody>
      </p:sp>
      <p:sp>
        <p:nvSpPr>
          <p:cNvPr id="6" name="wk-h"/>
          <p:cNvSpPr txBox="1"/>
          <p:nvPr/>
        </p:nvSpPr>
        <p:spPr>
          <a:xfrm>
            <a:off x="589788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Weak (0.63–0.75)</a:t>
            </a:r>
            <a:endParaRPr lang="en-US" sz="1400" dirty="0"/>
          </a:p>
        </p:txBody>
      </p:sp>
      <p:sp>
        <p:nvSpPr>
          <p:cNvPr id="7" name="wk-b"/>
          <p:cNvSpPr txBox="1"/>
          <p:nvPr/>
        </p:nvSpPr>
        <p:spPr>
          <a:xfrm>
            <a:off x="5897880" y="2990088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Scored 4–12× stricter</a:t>
            </a:r>
            <a:endParaRPr lang="en-US" sz="13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Several structures fit equally</a:t>
            </a:r>
            <a:endParaRPr lang="en-US" sz="13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Fit all 3 mechanism pairs</a:t>
            </a:r>
            <a:endParaRPr lang="en-US" sz="13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Buy data where models disagree</a:t>
            </a:r>
            <a:endParaRPr lang="en-US" sz="13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Ship a median of models if no clear winner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AB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What each final model captures</a:t>
            </a:r>
            <a:endParaRPr lang="en-US" sz="2800" dirty="0"/>
          </a:p>
        </p:txBody>
      </p:sp>
      <p:graphicFrame>
        <p:nvGraphicFramePr>
          <p:cNvPr id="7" name="model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5943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reservoir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inflow wave, groundwater inflow, slow water-quality stock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auction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 tracked in 10 targeting-breadth bins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7-tick travel delay; lane closure slows and shrinks route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chain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congestion + commitment; 3-tick pure delay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grid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per-observable mix; thermostat-style load rebound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wildlife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of 5 predator-prey 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of two queue models; exactly 2 ticks in 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epidemic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SIRS + hospital stock + 2-tick reporting delay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two-community diffusion with short 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dealer inventory model with a freeze switch (hysteresis)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AB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1. Structure over flexibility</a:t>
            </a:r>
            <a:endParaRPr lang="en-US" sz="2800" dirty="0"/>
          </a:p>
        </p:txBody>
      </p:sp>
      <p:graphicFrame>
        <p:nvGraphicFramePr>
          <p:cNvPr id="3" name="epi-chart" descr=""/>
          <p:cNvGraphicFramePr/>
          <p:nvPr/>
        </p:nvGraphicFramePr>
        <p:xfrm>
          <a:off x="411480" y="1234440"/>
          <a:ext cx="52120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pi-b"/>
          <p:cNvSpPr txBox="1"/>
          <p:nvPr/>
        </p:nvSpPr>
        <p:spPr>
          <a:xfrm>
            <a:off x="5897880" y="1600200"/>
            <a:ext cx="2788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Linear models couldn't fit their own training data</a:t>
            </a:r>
            <a:endParaRPr lang="en-US" sz="16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Data shapes: waves, rebounds, caps, delays</a:t>
            </a:r>
            <a:endParaRPr lang="en-US" sz="16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Grey-box ODE per system from the brief</a:t>
            </a:r>
            <a:endParaRPr lang="en-US" sz="16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Small enough for the data to pin down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AB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2. Spend data like an experiment</a:t>
            </a:r>
            <a:endParaRPr lang="en-US" sz="2800" dirty="0"/>
          </a:p>
        </p:txBody>
      </p:sp>
      <p:graphicFrame>
        <p:nvGraphicFramePr>
          <p:cNvPr id="3" name="traffic-chart" descr=""/>
          <p:cNvGraphicFramePr/>
          <p:nvPr/>
        </p:nvGraphicFramePr>
        <p:xfrm>
          <a:off x="411480" y="1234440"/>
          <a:ext cx="52120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r-b"/>
          <p:cNvSpPr txBox="1"/>
          <p:nvPr/>
        </p:nvSpPr>
        <p:spPr>
          <a:xfrm>
            <a:off x="5897880" y="1600200"/>
            <a:ext cx="2788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Probe first: 120-step hold, measure time constants</a:t>
            </a:r>
            <a:endParaRPr lang="en-US" sz="16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Size later runs to 3–5× the slowest time constant</a:t>
            </a:r>
            <a:endParaRPr lang="en-US" sz="16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Committee of validated models on test-shaped schedules</a:t>
            </a:r>
            <a:endParaRPr lang="en-US" sz="16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Buy where they disagree most (in σ units)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AB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3. Use the leaderboard as a lab</a:t>
            </a:r>
            <a:endParaRPr lang="en-US" sz="2800" dirty="0"/>
          </a:p>
        </p:txBody>
      </p:sp>
      <p:graphicFrame>
        <p:nvGraphicFramePr>
          <p:cNvPr id="3" name="ruler-chart" descr=""/>
          <p:cNvGraphicFramePr/>
          <p:nvPr/>
        </p:nvGraphicFramePr>
        <p:xfrm>
          <a:off x="411480" y="1234440"/>
          <a:ext cx="52120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uler-b"/>
          <p:cNvSpPr txBox="1"/>
          <p:nvPr/>
        </p:nvSpPr>
        <p:spPr>
          <a:xfrm>
            <a:off x="5897880" y="1600200"/>
            <a:ext cx="2788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One change per system per upload: 10 A/B tests each</a:t>
            </a:r>
            <a:endParaRPr lang="en-US" sz="16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Replayed every upload on my own runs</a:t>
            </a:r>
            <a:endParaRPr lang="en-US" sz="16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Solved σ_org = k · σ_mine per system</a:t>
            </a:r>
            <a:endParaRPr lang="en-US" sz="16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Refit everything at their σ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AB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4. Every change had to earn its place</a:t>
            </a:r>
            <a:endParaRPr lang="en-US" sz="2800" dirty="0"/>
          </a:p>
        </p:txBody>
      </p:sp>
      <p:sp>
        <p:nvSpPr>
          <p:cNvPr id="3" name="stage-0"/>
          <p:cNvSpPr/>
          <p:nvPr/>
        </p:nvSpPr>
        <p:spPr>
          <a:xfrm>
            <a:off x="548640" y="1417320"/>
            <a:ext cx="1572768" cy="914400"/>
          </a:xfrm>
          <a:prstGeom prst="homePlate">
            <a:avLst/>
          </a:prstGeom>
          <a:solidFill>
            <a:schemeClr val="bg2"/>
          </a:solidFill>
          <a:ln/>
        </p:spPr>
      </p:sp>
      <p:sp>
        <p:nvSpPr>
          <p:cNvPr id="4" name="st-h-0"/>
          <p:cNvSpPr txBox="1"/>
          <p:nvPr/>
        </p:nvSpPr>
        <p:spPr>
          <a:xfrm>
            <a:off x="685800" y="1417320"/>
            <a:ext cx="1024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New idea</a:t>
            </a:r>
            <a:endParaRPr lang="en-US" sz="1150" dirty="0"/>
          </a:p>
        </p:txBody>
      </p:sp>
      <p:sp>
        <p:nvSpPr>
          <p:cNvPr id="5" name="st-b-0"/>
          <p:cNvSpPr txBox="1"/>
          <p:nvPr/>
        </p:nvSpPr>
        <p:spPr>
          <a:xfrm>
            <a:off x="685800" y="246888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 model change</a:t>
            </a:r>
            <a:endParaRPr lang="en-US" sz="1150" dirty="0"/>
          </a:p>
        </p:txBody>
      </p:sp>
      <p:sp>
        <p:nvSpPr>
          <p:cNvPr id="6" name="stage-1"/>
          <p:cNvSpPr/>
          <p:nvPr/>
        </p:nvSpPr>
        <p:spPr>
          <a:xfrm>
            <a:off x="2167128" y="1417320"/>
            <a:ext cx="1572768" cy="914400"/>
          </a:xfrm>
          <a:prstGeom prst="chevron">
            <a:avLst/>
          </a:prstGeom>
          <a:solidFill>
            <a:schemeClr val="tx1"/>
          </a:solidFill>
          <a:ln/>
        </p:spPr>
      </p:sp>
      <p:sp>
        <p:nvSpPr>
          <p:cNvPr id="7" name="st-h-1"/>
          <p:cNvSpPr txBox="1"/>
          <p:nvPr/>
        </p:nvSpPr>
        <p:spPr>
          <a:xfrm>
            <a:off x="2624328" y="1417320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Hidden-run test</a:t>
            </a:r>
            <a:endParaRPr lang="en-US" sz="1150" dirty="0"/>
          </a:p>
        </p:txBody>
      </p:sp>
      <p:sp>
        <p:nvSpPr>
          <p:cNvPr id="8" name="st-b-1"/>
          <p:cNvSpPr txBox="1"/>
          <p:nvPr/>
        </p:nvSpPr>
        <p:spPr>
          <a:xfrm>
            <a:off x="2304288" y="246888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predict data it never saw</a:t>
            </a:r>
            <a:endParaRPr lang="en-US" sz="1150" dirty="0"/>
          </a:p>
        </p:txBody>
      </p:sp>
      <p:sp>
        <p:nvSpPr>
          <p:cNvPr id="9" name="stage-2"/>
          <p:cNvSpPr/>
          <p:nvPr/>
        </p:nvSpPr>
        <p:spPr>
          <a:xfrm>
            <a:off x="3785616" y="1417320"/>
            <a:ext cx="1572768" cy="914400"/>
          </a:xfrm>
          <a:prstGeom prst="chevron">
            <a:avLst/>
          </a:prstGeom>
          <a:solidFill>
            <a:schemeClr val="tx1"/>
          </a:solidFill>
          <a:ln/>
        </p:spPr>
      </p:sp>
      <p:sp>
        <p:nvSpPr>
          <p:cNvPr id="10" name="st-h-2"/>
          <p:cNvSpPr txBox="1"/>
          <p:nvPr/>
        </p:nvSpPr>
        <p:spPr>
          <a:xfrm>
            <a:off x="4242816" y="1417320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4,000-step check</a:t>
            </a:r>
            <a:endParaRPr lang="en-US" sz="1150" dirty="0"/>
          </a:p>
        </p:txBody>
      </p:sp>
      <p:sp>
        <p:nvSpPr>
          <p:cNvPr id="11" name="st-b-2"/>
          <p:cNvSpPr txBox="1"/>
          <p:nvPr/>
        </p:nvSpPr>
        <p:spPr>
          <a:xfrm>
            <a:off x="3922776" y="246888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nothing drifts or breaks</a:t>
            </a:r>
            <a:endParaRPr lang="en-US" sz="1150" dirty="0"/>
          </a:p>
        </p:txBody>
      </p:sp>
      <p:sp>
        <p:nvSpPr>
          <p:cNvPr id="12" name="stage-3"/>
          <p:cNvSpPr/>
          <p:nvPr/>
        </p:nvSpPr>
        <p:spPr>
          <a:xfrm>
            <a:off x="5404104" y="1417320"/>
            <a:ext cx="1572768" cy="914400"/>
          </a:xfrm>
          <a:prstGeom prst="chevron">
            <a:avLst/>
          </a:prstGeom>
          <a:solidFill>
            <a:schemeClr val="tx1"/>
          </a:solidFill>
          <a:ln/>
        </p:spPr>
      </p:sp>
      <p:sp>
        <p:nvSpPr>
          <p:cNvPr id="13" name="st-h-3"/>
          <p:cNvSpPr txBox="1"/>
          <p:nvPr/>
        </p:nvSpPr>
        <p:spPr>
          <a:xfrm>
            <a:off x="5861304" y="1417320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Exam run</a:t>
            </a:r>
            <a:endParaRPr lang="en-US" sz="1150" dirty="0"/>
          </a:p>
        </p:txBody>
      </p:sp>
      <p:sp>
        <p:nvSpPr>
          <p:cNvPr id="14" name="st-b-3"/>
          <p:cNvSpPr txBox="1"/>
          <p:nvPr/>
        </p:nvSpPr>
        <p:spPr>
          <a:xfrm>
            <a:off x="5541264" y="246888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data shaped like the test</a:t>
            </a:r>
            <a:endParaRPr lang="en-US" sz="1150" dirty="0"/>
          </a:p>
        </p:txBody>
      </p:sp>
      <p:sp>
        <p:nvSpPr>
          <p:cNvPr id="15" name="stage-4"/>
          <p:cNvSpPr/>
          <p:nvPr/>
        </p:nvSpPr>
        <p:spPr>
          <a:xfrm>
            <a:off x="7022592" y="1417320"/>
            <a:ext cx="1572768" cy="9144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6" name="st-h-4"/>
          <p:cNvSpPr txBox="1"/>
          <p:nvPr/>
        </p:nvSpPr>
        <p:spPr>
          <a:xfrm>
            <a:off x="7479792" y="1417320"/>
            <a:ext cx="932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Leaderboard</a:t>
            </a:r>
            <a:endParaRPr lang="en-US" sz="1150" dirty="0"/>
          </a:p>
        </p:txBody>
      </p:sp>
      <p:sp>
        <p:nvSpPr>
          <p:cNvPr id="17" name="st-b-4"/>
          <p:cNvSpPr txBox="1"/>
          <p:nvPr/>
        </p:nvSpPr>
        <p:spPr>
          <a:xfrm>
            <a:off x="7159752" y="246888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confirmed publicly</a:t>
            </a:r>
            <a:endParaRPr lang="en-US" sz="1150" dirty="0"/>
          </a:p>
        </p:txBody>
      </p:sp>
      <p:sp>
        <p:nvSpPr>
          <p:cNvPr id="18" name="rules-h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My rules for shipping</a:t>
            </a:r>
            <a:endParaRPr lang="en-US" sz="1400" dirty="0"/>
          </a:p>
        </p:txBody>
      </p:sp>
      <p:sp>
        <p:nvSpPr>
          <p:cNvPr id="19" name="rules"/>
          <p:cNvSpPr txBox="1"/>
          <p:nvPr/>
        </p:nvSpPr>
        <p:spPr>
          <a:xfrm>
            <a:off x="548640" y="34747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Has to win across most test runs, not one lucky run</a:t>
            </a:r>
            <a:endParaRPr lang="en-US" sz="1500" dirty="0"/>
          </a:p>
          <a:p>
            <a:pPr algn="l"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The hardest test case can't get worse</a:t>
            </a:r>
            <a:endParaRPr lang="en-US" sz="1500" dirty="0"/>
          </a:p>
          <a:p>
            <a:pPr algn="l"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Final entry = the best leaderboard-confirmed version of each system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AB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5. Look for how it was built</a:t>
            </a:r>
            <a:endParaRPr lang="en-US" sz="2800" dirty="0"/>
          </a:p>
        </p:txBody>
      </p:sp>
      <p:graphicFrame>
        <p:nvGraphicFramePr>
          <p:cNvPr id="3" name="res-chart" descr=""/>
          <p:cNvGraphicFramePr/>
          <p:nvPr/>
        </p:nvGraphicFramePr>
        <p:xfrm>
          <a:off x="411480" y="1234440"/>
          <a:ext cx="52120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s-b"/>
          <p:cNvSpPr txBox="1"/>
          <p:nvPr/>
        </p:nvSpPr>
        <p:spPr>
          <a:xfrm>
            <a:off x="5897880" y="1600200"/>
            <a:ext cx="2788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Hunch: these are written code, not real physics</a:t>
            </a:r>
            <a:endParaRPr lang="en-US" sz="16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Looked for exact repeats and hard switches</a:t>
            </a:r>
            <a:endParaRPr lang="en-US" sz="16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Reservoir inflow: a fixed wave, not noise</a:t>
            </a:r>
            <a:endParaRPr lang="en-US" sz="16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Market freeze has memory, hospital takes exactly 2 ticks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3AB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dirty="0">
                <a:solidFill>
                  <a:schemeClr val="bg1"/>
                </a:solidFill>
              </a:rPr>
              <a:t>Summary</a:t>
            </a:r>
            <a:endParaRPr lang="en-US" sz="5400" dirty="0"/>
          </a:p>
        </p:txBody>
      </p:sp>
      <p:sp>
        <p:nvSpPr>
          <p:cNvPr id="3" name="sum"/>
          <p:cNvSpPr txBox="1"/>
          <p:nvPr/>
        </p:nvSpPr>
        <p:spPr>
          <a:xfrm>
            <a:off x="640080" y="23317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Grey-box ODEs built from each brief, not black-box fits</a:t>
            </a:r>
            <a:endParaRPr lang="en-US" sz="1700" dirty="0"/>
          </a:p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Data bought where models disagreed or had never looked</a:t>
            </a:r>
            <a:endParaRPr lang="en-US" sz="1700" dirty="0"/>
          </a:p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Uploads run as A/B tests, refit at the organizers' scale</a:t>
            </a:r>
            <a:endParaRPr lang="en-US" sz="1700" dirty="0"/>
          </a:p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Only changes that held up across runs got shipped</a:t>
            </a:r>
            <a:endParaRPr lang="en-US" sz="1700" dirty="0"/>
          </a:p>
        </p:txBody>
      </p:sp>
      <p:sp>
        <p:nvSpPr>
          <p:cNvPr id="4" name="final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0.34  →  </a:t>
            </a:r>
            <a:pPr algn="l" indent="0" marL="0">
              <a:buNone/>
            </a:pPr>
            <a:r>
              <a:rPr lang="en-US" sz="2200" b="1" dirty="0">
                <a:solidFill>
                  <a:srgbClr val="8C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</a:t>
            </a:r>
            <a:pPr algn="l" indent="0" marL="0">
              <a:buNone/>
            </a:pPr>
            <a:r>
              <a:rPr lang="en-US" sz="2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und Truth">
  <a:themeElements>
    <a:clrScheme name="Ground Truth">
      <a:dk1>
        <a:srgbClr val="1A1F26"/>
      </a:dk1>
      <a:lt1>
        <a:srgbClr val="FFFFFF"/>
      </a:lt1>
      <a:dk2>
        <a:srgbClr val="3A4250"/>
      </a:dk2>
      <a:lt2>
        <a:srgbClr val="F3F4F6"/>
      </a:lt2>
      <a:accent1>
        <a:srgbClr val="2D6A4F"/>
      </a:accent1>
      <a:accent2>
        <a:srgbClr val="8C7A5B"/>
      </a:accent2>
      <a:accent3>
        <a:srgbClr val="A3ABB3"/>
      </a:accent3>
      <a:accent4>
        <a:srgbClr val="B8432F"/>
      </a:accent4>
      <a:accent5>
        <a:srgbClr val="6B7480"/>
      </a:accent5>
      <a:accent6>
        <a:srgbClr val="DADDE2"/>
      </a:accent6>
      <a:hlink>
        <a:srgbClr val="2D6A4F"/>
      </a:hlink>
      <a:folHlink>
        <a:srgbClr val="6B7480"/>
      </a:folHlink>
    </a:clrScheme>
    <a:fontScheme name="Ground Trut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Dylan 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Hidden Simulators</dc:title>
  <dc:subject>Instalily hackathon</dc:subject>
  <dc:creator>Dylan Ho</dc:creator>
  <cp:lastModifiedBy>Dylan Ho</cp:lastModifiedBy>
  <cp:revision>1</cp:revision>
  <dcterms:created xsi:type="dcterms:W3CDTF">2026-10-03T00:10:38Z</dcterms:created>
  <dcterms:modified xsi:type="dcterms:W3CDTF">2026-10-03T00:10:38Z</dcterms:modified>
</cp:coreProperties>
</file>